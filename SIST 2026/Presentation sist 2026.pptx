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85" r:id="rId2"/>
  </p:sldMasterIdLst>
  <p:notesMasterIdLst>
    <p:notesMasterId r:id="rId28"/>
  </p:notesMasterIdLst>
  <p:sldIdLst>
    <p:sldId id="270" r:id="rId3"/>
    <p:sldId id="373" r:id="rId4"/>
    <p:sldId id="423" r:id="rId5"/>
    <p:sldId id="417" r:id="rId6"/>
    <p:sldId id="395" r:id="rId7"/>
    <p:sldId id="385" r:id="rId8"/>
    <p:sldId id="402" r:id="rId9"/>
    <p:sldId id="386" r:id="rId10"/>
    <p:sldId id="387" r:id="rId11"/>
    <p:sldId id="411" r:id="rId12"/>
    <p:sldId id="396" r:id="rId13"/>
    <p:sldId id="408" r:id="rId14"/>
    <p:sldId id="409" r:id="rId15"/>
    <p:sldId id="412" r:id="rId16"/>
    <p:sldId id="413" r:id="rId17"/>
    <p:sldId id="406" r:id="rId18"/>
    <p:sldId id="414" r:id="rId19"/>
    <p:sldId id="415" r:id="rId20"/>
    <p:sldId id="403" r:id="rId21"/>
    <p:sldId id="407" r:id="rId22"/>
    <p:sldId id="419" r:id="rId23"/>
    <p:sldId id="420" r:id="rId24"/>
    <p:sldId id="389" r:id="rId25"/>
    <p:sldId id="416" r:id="rId26"/>
    <p:sldId id="31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52"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397" autoAdjust="0"/>
    <p:restoredTop sz="94660" autoAdjust="0"/>
  </p:normalViewPr>
  <p:slideViewPr>
    <p:cSldViewPr snapToGrid="0" showGuides="1">
      <p:cViewPr varScale="1">
        <p:scale>
          <a:sx n="109" d="100"/>
          <a:sy n="109" d="100"/>
        </p:scale>
        <p:origin x="852" y="108"/>
      </p:cViewPr>
      <p:guideLst>
        <p:guide orient="horz" pos="2352"/>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78" d="100"/>
          <a:sy n="78" d="100"/>
        </p:scale>
        <p:origin x="2598"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99D184-E587-4C6C-A8B5-026A8E064B9C}" type="datetimeFigureOut">
              <a:rPr lang="fr-FR" smtClean="0"/>
              <a:t>14/09/2026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92A28F-C645-48A9-9F87-C238F64B02A1}" type="slidenum">
              <a:rPr lang="fr-FR" smtClean="0"/>
              <a:t>‹N°›</a:t>
            </a:fld>
            <a:endParaRPr lang="fr-FR"/>
          </a:p>
        </p:txBody>
      </p:sp>
    </p:spTree>
    <p:extLst>
      <p:ext uri="{BB962C8B-B14F-4D97-AF65-F5344CB8AC3E}">
        <p14:creationId xmlns:p14="http://schemas.microsoft.com/office/powerpoint/2010/main" val="2395589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2792A28F-C645-48A9-9F87-C238F64B02A1}" type="slidenum">
              <a:rPr lang="fr-FR" smtClean="0"/>
              <a:t>1</a:t>
            </a:fld>
            <a:endParaRPr lang="fr-FR"/>
          </a:p>
        </p:txBody>
      </p:sp>
    </p:spTree>
    <p:extLst>
      <p:ext uri="{BB962C8B-B14F-4D97-AF65-F5344CB8AC3E}">
        <p14:creationId xmlns:p14="http://schemas.microsoft.com/office/powerpoint/2010/main" val="16212991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4863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659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669968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32_Images &amp; Contents">
    <p:spTree>
      <p:nvGrpSpPr>
        <p:cNvPr id="1" name=""/>
        <p:cNvGrpSpPr/>
        <p:nvPr/>
      </p:nvGrpSpPr>
      <p:grpSpPr>
        <a:xfrm>
          <a:off x="0" y="0"/>
          <a:ext cx="0" cy="0"/>
          <a:chOff x="0" y="0"/>
          <a:chExt cx="0" cy="0"/>
        </a:xfrm>
      </p:grpSpPr>
      <p:sp>
        <p:nvSpPr>
          <p:cNvPr id="8" name="그림 개체 틀 7">
            <a:extLst>
              <a:ext uri="{FF2B5EF4-FFF2-40B4-BE49-F238E27FC236}">
                <a16:creationId xmlns:a16="http://schemas.microsoft.com/office/drawing/2014/main" id="{3CD10489-647D-4424-92F3-2E31185A69B8}"/>
              </a:ext>
            </a:extLst>
          </p:cNvPr>
          <p:cNvSpPr>
            <a:spLocks noGrp="1"/>
          </p:cNvSpPr>
          <p:nvPr>
            <p:ph type="pic" sz="quarter" idx="10" hasCustomPrompt="1"/>
          </p:nvPr>
        </p:nvSpPr>
        <p:spPr>
          <a:xfrm>
            <a:off x="4227514" y="0"/>
            <a:ext cx="7964489" cy="6858000"/>
          </a:xfrm>
          <a:custGeom>
            <a:avLst/>
            <a:gdLst>
              <a:gd name="connsiteX0" fmla="*/ 7895557 w 7964489"/>
              <a:gd name="connsiteY0" fmla="*/ 1035541 h 6858000"/>
              <a:gd name="connsiteX1" fmla="*/ 6561027 w 7964489"/>
              <a:gd name="connsiteY1" fmla="*/ 6858000 h 6858000"/>
              <a:gd name="connsiteX2" fmla="*/ 3421268 w 7964489"/>
              <a:gd name="connsiteY2" fmla="*/ 6858000 h 6858000"/>
              <a:gd name="connsiteX3" fmla="*/ 4816845 w 7964489"/>
              <a:gd name="connsiteY3" fmla="*/ 380744 h 6858000"/>
              <a:gd name="connsiteX4" fmla="*/ 3224260 w 7964489"/>
              <a:gd name="connsiteY4" fmla="*/ 6858000 h 6858000"/>
              <a:gd name="connsiteX5" fmla="*/ 0 w 7964489"/>
              <a:gd name="connsiteY5" fmla="*/ 6858000 h 6858000"/>
              <a:gd name="connsiteX6" fmla="*/ 5167647 w 7964489"/>
              <a:gd name="connsiteY6" fmla="*/ 0 h 6858000"/>
              <a:gd name="connsiteX7" fmla="*/ 7964489 w 7964489"/>
              <a:gd name="connsiteY7" fmla="*/ 0 h 6858000"/>
              <a:gd name="connsiteX8" fmla="*/ 7964489 w 7964489"/>
              <a:gd name="connsiteY8" fmla="*/ 581734 h 6858000"/>
              <a:gd name="connsiteX9" fmla="*/ 3748483 w 7964489"/>
              <a:gd name="connsiteY9" fmla="*/ 598267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64489" h="6858000">
                <a:moveTo>
                  <a:pt x="7895557" y="1035541"/>
                </a:moveTo>
                <a:lnTo>
                  <a:pt x="6561027" y="6858000"/>
                </a:lnTo>
                <a:lnTo>
                  <a:pt x="3421268" y="6858000"/>
                </a:lnTo>
                <a:close/>
                <a:moveTo>
                  <a:pt x="4816845" y="380744"/>
                </a:moveTo>
                <a:lnTo>
                  <a:pt x="3224260" y="6858000"/>
                </a:lnTo>
                <a:lnTo>
                  <a:pt x="0" y="6858000"/>
                </a:lnTo>
                <a:close/>
                <a:moveTo>
                  <a:pt x="5167647" y="0"/>
                </a:moveTo>
                <a:lnTo>
                  <a:pt x="7964489" y="0"/>
                </a:lnTo>
                <a:lnTo>
                  <a:pt x="7964489" y="581734"/>
                </a:lnTo>
                <a:lnTo>
                  <a:pt x="3748483" y="5982679"/>
                </a:lnTo>
                <a:close/>
              </a:path>
            </a:pathLst>
          </a:custGeom>
          <a:solidFill>
            <a:schemeClr val="bg1">
              <a:lumMod val="95000"/>
            </a:schemeClr>
          </a:solidFill>
          <a:effectLst/>
        </p:spPr>
        <p:txBody>
          <a:bodyPr wrap="square" anchor="ctr">
            <a:noAutofit/>
          </a:bodyPr>
          <a:lstStyle>
            <a:lvl1pPr marL="0" marR="0" indent="0" algn="ctr" defTabSz="914446" rtl="0" eaLnBrk="1" fontAlgn="auto" latinLnBrk="1" hangingPunct="1">
              <a:lnSpc>
                <a:spcPct val="90000"/>
              </a:lnSpc>
              <a:spcBef>
                <a:spcPts val="1000"/>
              </a:spcBef>
              <a:spcAft>
                <a:spcPts val="0"/>
              </a:spcAft>
              <a:buClrTx/>
              <a:buSzTx/>
              <a:buFontTx/>
              <a:buNone/>
              <a:tabLst/>
              <a:defRPr sz="1200"/>
            </a:lvl1pPr>
          </a:lstStyle>
          <a:p>
            <a:r>
              <a:rPr lang="en-US" altLang="ko-KR" dirty="0"/>
              <a:t>Your Picture Here</a:t>
            </a:r>
            <a:endParaRPr lang="ko-KR" altLang="en-US" dirty="0"/>
          </a:p>
        </p:txBody>
      </p:sp>
    </p:spTree>
    <p:extLst>
      <p:ext uri="{BB962C8B-B14F-4D97-AF65-F5344CB8AC3E}">
        <p14:creationId xmlns:p14="http://schemas.microsoft.com/office/powerpoint/2010/main" val="3031107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9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0094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5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8535471"/>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1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2935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3143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3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8435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5B47D6-DAD7-40A6-BD10-CD2FABB13213}"/>
              </a:ext>
            </a:extLst>
          </p:cNvPr>
          <p:cNvSpPr/>
          <p:nvPr userDrawn="1"/>
        </p:nvSpPr>
        <p:spPr>
          <a:xfrm>
            <a:off x="0" y="0"/>
            <a:ext cx="12192000"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2543841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1698797"/>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83" r:id="rId3"/>
    <p:sldLayoutId id="2147483696"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27974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5"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16.jp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16.jpg"/></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jpg"/><Relationship Id="rId2" Type="http://schemas.openxmlformats.org/officeDocument/2006/relationships/image" Target="../media/image31.png"/><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8.jp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41.png"/><Relationship Id="rId1" Type="http://schemas.openxmlformats.org/officeDocument/2006/relationships/slideLayout" Target="../slideLayouts/slideLayout3.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93AEA043-746F-4334-A00A-A4587B060237}"/>
              </a:ext>
            </a:extLst>
          </p:cNvPr>
          <p:cNvSpPr txBox="1"/>
          <p:nvPr/>
        </p:nvSpPr>
        <p:spPr>
          <a:xfrm>
            <a:off x="3931065" y="4367508"/>
            <a:ext cx="7980490" cy="923330"/>
          </a:xfrm>
          <a:prstGeom prst="rect">
            <a:avLst/>
          </a:prstGeom>
          <a:noFill/>
        </p:spPr>
        <p:txBody>
          <a:bodyPr wrap="square" rtlCol="0" anchor="ctr">
            <a:spAutoFit/>
          </a:bodyPr>
          <a:lstStyle/>
          <a:p>
            <a:pPr algn="r"/>
            <a:r>
              <a:rPr lang="en-US" sz="5400" dirty="0">
                <a:solidFill>
                  <a:schemeClr val="bg1"/>
                </a:solidFill>
                <a:latin typeface="+mj-lt"/>
              </a:rPr>
              <a:t>API Rest SensorThings</a:t>
            </a:r>
          </a:p>
        </p:txBody>
      </p:sp>
      <p:sp>
        <p:nvSpPr>
          <p:cNvPr id="3" name="TextBox 20">
            <a:extLst>
              <a:ext uri="{FF2B5EF4-FFF2-40B4-BE49-F238E27FC236}">
                <a16:creationId xmlns:a16="http://schemas.microsoft.com/office/drawing/2014/main" id="{93AEA043-746F-4334-A00A-A4587B060237}"/>
              </a:ext>
            </a:extLst>
          </p:cNvPr>
          <p:cNvSpPr txBox="1"/>
          <p:nvPr/>
        </p:nvSpPr>
        <p:spPr>
          <a:xfrm>
            <a:off x="296420" y="5894569"/>
            <a:ext cx="3335780" cy="461665"/>
          </a:xfrm>
          <a:prstGeom prst="rect">
            <a:avLst/>
          </a:prstGeom>
          <a:noFill/>
        </p:spPr>
        <p:txBody>
          <a:bodyPr wrap="square" rtlCol="0" anchor="ctr">
            <a:spAutoFit/>
          </a:bodyPr>
          <a:lstStyle/>
          <a:p>
            <a:r>
              <a:rPr lang="en-US" sz="2400" dirty="0">
                <a:solidFill>
                  <a:schemeClr val="bg1"/>
                </a:solidFill>
                <a:latin typeface="+mj-lt"/>
              </a:rPr>
              <a:t>@SIST2024 Marseille</a:t>
            </a:r>
          </a:p>
        </p:txBody>
      </p:sp>
    </p:spTree>
    <p:extLst>
      <p:ext uri="{BB962C8B-B14F-4D97-AF65-F5344CB8AC3E}">
        <p14:creationId xmlns:p14="http://schemas.microsoft.com/office/powerpoint/2010/main" val="3086685074"/>
      </p:ext>
    </p:extLst>
  </p:cSld>
  <p:clrMapOvr>
    <a:masterClrMapping/>
  </p:clrMapOvr>
  <mc:AlternateContent xmlns:mc="http://schemas.openxmlformats.org/markup-compatibility/2006" xmlns:p14="http://schemas.microsoft.com/office/powerpoint/2010/main">
    <mc:Choice Requires="p14">
      <p:transition spd="slow" p14:dur="2000" advTm="3234"/>
    </mc:Choice>
    <mc:Fallback xmlns="">
      <p:transition spd="slow" advTm="323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4823C5-AAD3-4FB3-A25D-C238181A022C}"/>
              </a:ext>
            </a:extLst>
          </p:cNvPr>
          <p:cNvSpPr/>
          <p:nvPr/>
        </p:nvSpPr>
        <p:spPr>
          <a:xfrm>
            <a:off x="1028733" y="777263"/>
            <a:ext cx="10615871" cy="5380942"/>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19">
            <a:extLst>
              <a:ext uri="{FF2B5EF4-FFF2-40B4-BE49-F238E27FC236}">
                <a16:creationId xmlns:a16="http://schemas.microsoft.com/office/drawing/2014/main" id="{79426DEA-E145-4CB5-A124-03449CFBB3D2}"/>
              </a:ext>
            </a:extLst>
          </p:cNvPr>
          <p:cNvSpPr/>
          <p:nvPr/>
        </p:nvSpPr>
        <p:spPr>
          <a:xfrm>
            <a:off x="872742" y="422606"/>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20">
            <a:extLst>
              <a:ext uri="{FF2B5EF4-FFF2-40B4-BE49-F238E27FC236}">
                <a16:creationId xmlns:a16="http://schemas.microsoft.com/office/drawing/2014/main" id="{D5DFB5B5-FA64-4BEE-B753-0656AB389907}"/>
              </a:ext>
            </a:extLst>
          </p:cNvPr>
          <p:cNvSpPr txBox="1"/>
          <p:nvPr/>
        </p:nvSpPr>
        <p:spPr>
          <a:xfrm>
            <a:off x="777902" y="335279"/>
            <a:ext cx="6055666" cy="584775"/>
          </a:xfrm>
          <a:prstGeom prst="rect">
            <a:avLst/>
          </a:prstGeom>
          <a:noFill/>
        </p:spPr>
        <p:txBody>
          <a:bodyPr wrap="square" rtlCol="0">
            <a:spAutoFit/>
          </a:bodyPr>
          <a:lstStyle/>
          <a:p>
            <a:pPr algn="ctr"/>
            <a:r>
              <a:rPr lang="fr-FR" altLang="ko-KR" sz="3200" b="1" dirty="0" err="1">
                <a:solidFill>
                  <a:schemeClr val="bg1"/>
                </a:solidFill>
                <a:cs typeface="Arial" pitchFamily="34" charset="0"/>
              </a:rPr>
              <a:t>Génése</a:t>
            </a:r>
            <a:endParaRPr lang="ko-KR" altLang="en-US" sz="3200" b="1" dirty="0">
              <a:solidFill>
                <a:schemeClr val="bg1"/>
              </a:solidFill>
              <a:cs typeface="Arial" pitchFamily="34" charset="0"/>
            </a:endParaRPr>
          </a:p>
        </p:txBody>
      </p:sp>
      <p:sp>
        <p:nvSpPr>
          <p:cNvPr id="7" name="TextBox 21">
            <a:extLst>
              <a:ext uri="{FF2B5EF4-FFF2-40B4-BE49-F238E27FC236}">
                <a16:creationId xmlns:a16="http://schemas.microsoft.com/office/drawing/2014/main" id="{D6C24BE7-F4B7-4B22-90D0-D58085FC6A1F}"/>
              </a:ext>
            </a:extLst>
          </p:cNvPr>
          <p:cNvSpPr txBox="1"/>
          <p:nvPr/>
        </p:nvSpPr>
        <p:spPr>
          <a:xfrm>
            <a:off x="1028733" y="1007381"/>
            <a:ext cx="10353059" cy="4893647"/>
          </a:xfrm>
          <a:prstGeom prst="rect">
            <a:avLst/>
          </a:prstGeom>
          <a:noFill/>
        </p:spPr>
        <p:txBody>
          <a:bodyPr wrap="square" rtlCol="0">
            <a:spAutoFit/>
          </a:bodyPr>
          <a:lstStyle/>
          <a:p>
            <a:pPr algn="just"/>
            <a:r>
              <a:rPr lang="fr-FR" altLang="ko-KR" sz="2400" dirty="0">
                <a:solidFill>
                  <a:schemeClr val="bg1"/>
                </a:solidFill>
                <a:latin typeface="Arial" pitchFamily="34" charset="0"/>
                <a:cs typeface="Arial" pitchFamily="34" charset="0"/>
              </a:rPr>
              <a:t>Le projet s'inscrit dans la continuité des projets menés par le BRGM autour des standards OGC/ISO Observations &amp; </a:t>
            </a:r>
            <a:r>
              <a:rPr lang="fr-FR" altLang="ko-KR" sz="2400" dirty="0" err="1">
                <a:solidFill>
                  <a:schemeClr val="bg1"/>
                </a:solidFill>
                <a:latin typeface="Arial" pitchFamily="34" charset="0"/>
                <a:cs typeface="Arial" pitchFamily="34" charset="0"/>
              </a:rPr>
              <a:t>Measurements</a:t>
            </a:r>
            <a:r>
              <a:rPr lang="fr-FR" altLang="ko-KR" sz="2400" dirty="0">
                <a:solidFill>
                  <a:schemeClr val="bg1"/>
                </a:solidFill>
                <a:latin typeface="Arial" pitchFamily="34" charset="0"/>
                <a:cs typeface="Arial" pitchFamily="34" charset="0"/>
              </a:rPr>
              <a:t> et OGC SOS (</a:t>
            </a:r>
            <a:r>
              <a:rPr lang="fr-FR" altLang="ko-KR" sz="2400" dirty="0" err="1">
                <a:solidFill>
                  <a:schemeClr val="bg1"/>
                </a:solidFill>
                <a:latin typeface="Arial" pitchFamily="34" charset="0"/>
                <a:cs typeface="Arial" pitchFamily="34" charset="0"/>
              </a:rPr>
              <a:t>Sensor</a:t>
            </a:r>
            <a:r>
              <a:rPr lang="fr-FR" altLang="ko-KR" sz="2400" dirty="0">
                <a:solidFill>
                  <a:schemeClr val="bg1"/>
                </a:solidFill>
                <a:latin typeface="Arial" pitchFamily="34" charset="0"/>
                <a:cs typeface="Arial" pitchFamily="34" charset="0"/>
              </a:rPr>
              <a:t> Observation Service).</a:t>
            </a:r>
          </a:p>
          <a:p>
            <a:pPr algn="just"/>
            <a:endParaRPr lang="fr-FR" altLang="ko-KR" sz="2400" dirty="0">
              <a:solidFill>
                <a:schemeClr val="bg1"/>
              </a:solidFill>
              <a:latin typeface="Arial" pitchFamily="34" charset="0"/>
              <a:cs typeface="Arial" pitchFamily="34" charset="0"/>
            </a:endParaRPr>
          </a:p>
          <a:p>
            <a:pPr algn="just"/>
            <a:r>
              <a:rPr lang="fr-FR" altLang="ko-KR" sz="2400" dirty="0">
                <a:solidFill>
                  <a:schemeClr val="bg1"/>
                </a:solidFill>
                <a:latin typeface="Arial" pitchFamily="34" charset="0"/>
                <a:cs typeface="Arial" pitchFamily="34" charset="0"/>
              </a:rPr>
              <a:t>Il s’appuie sur la contribution historique des trois partenaires (Fraunhofer, </a:t>
            </a:r>
            <a:r>
              <a:rPr lang="fr-FR" altLang="ko-KR" sz="2400" dirty="0" err="1">
                <a:solidFill>
                  <a:schemeClr val="bg1"/>
                </a:solidFill>
                <a:latin typeface="Arial" pitchFamily="34" charset="0"/>
                <a:cs typeface="Arial" pitchFamily="34" charset="0"/>
              </a:rPr>
              <a:t>DataCove</a:t>
            </a:r>
            <a:r>
              <a:rPr lang="fr-FR" altLang="ko-KR" sz="2400" dirty="0">
                <a:solidFill>
                  <a:schemeClr val="bg1"/>
                </a:solidFill>
                <a:latin typeface="Arial" pitchFamily="34" charset="0"/>
                <a:cs typeface="Arial" pitchFamily="34" charset="0"/>
              </a:rPr>
              <a:t> et BRGM) aux actions de standardisation et de normalisation appliquées à l’échange de données d’observation (à l’échelle européenne avec la directive Inspire et à l’échelle mondiale avec l’OGC).</a:t>
            </a:r>
          </a:p>
          <a:p>
            <a:pPr algn="just"/>
            <a:endParaRPr lang="fr-FR" altLang="ko-KR" sz="2400" dirty="0">
              <a:solidFill>
                <a:schemeClr val="bg1"/>
              </a:solidFill>
              <a:latin typeface="Arial" pitchFamily="34" charset="0"/>
              <a:cs typeface="Arial" pitchFamily="34" charset="0"/>
            </a:endParaRPr>
          </a:p>
          <a:p>
            <a:pPr algn="just"/>
            <a:r>
              <a:rPr lang="fr-FR" altLang="ko-KR" sz="2400" dirty="0">
                <a:solidFill>
                  <a:schemeClr val="bg1"/>
                </a:solidFill>
                <a:latin typeface="Arial" pitchFamily="34" charset="0"/>
                <a:cs typeface="Arial" pitchFamily="34" charset="0"/>
              </a:rPr>
              <a:t>Adopté internationalement dans de nombreux domaines, le standard OGC "SensorThings API" constitue une opportunité incontournable pour stimuler la diffusion des données environnementales à grande échelle et de façon interopérable dans le cadre de l'internet des objets.</a:t>
            </a:r>
          </a:p>
        </p:txBody>
      </p:sp>
    </p:spTree>
    <p:extLst>
      <p:ext uri="{BB962C8B-B14F-4D97-AF65-F5344CB8AC3E}">
        <p14:creationId xmlns:p14="http://schemas.microsoft.com/office/powerpoint/2010/main" val="2959934613"/>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4823C5-AAD3-4FB3-A25D-C238181A022C}"/>
              </a:ext>
            </a:extLst>
          </p:cNvPr>
          <p:cNvSpPr/>
          <p:nvPr/>
        </p:nvSpPr>
        <p:spPr>
          <a:xfrm>
            <a:off x="872742" y="699797"/>
            <a:ext cx="10233316" cy="5850294"/>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19">
            <a:extLst>
              <a:ext uri="{FF2B5EF4-FFF2-40B4-BE49-F238E27FC236}">
                <a16:creationId xmlns:a16="http://schemas.microsoft.com/office/drawing/2014/main" id="{79426DEA-E145-4CB5-A124-03449CFBB3D2}"/>
              </a:ext>
            </a:extLst>
          </p:cNvPr>
          <p:cNvSpPr/>
          <p:nvPr/>
        </p:nvSpPr>
        <p:spPr>
          <a:xfrm>
            <a:off x="872742" y="422606"/>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20">
            <a:extLst>
              <a:ext uri="{FF2B5EF4-FFF2-40B4-BE49-F238E27FC236}">
                <a16:creationId xmlns:a16="http://schemas.microsoft.com/office/drawing/2014/main" id="{D5DFB5B5-FA64-4BEE-B753-0656AB389907}"/>
              </a:ext>
            </a:extLst>
          </p:cNvPr>
          <p:cNvSpPr txBox="1"/>
          <p:nvPr/>
        </p:nvSpPr>
        <p:spPr>
          <a:xfrm>
            <a:off x="777902" y="335279"/>
            <a:ext cx="6055666" cy="584775"/>
          </a:xfrm>
          <a:prstGeom prst="rect">
            <a:avLst/>
          </a:prstGeom>
          <a:noFill/>
        </p:spPr>
        <p:txBody>
          <a:bodyPr wrap="square" rtlCol="0">
            <a:spAutoFit/>
          </a:bodyPr>
          <a:lstStyle/>
          <a:p>
            <a:pPr algn="ctr"/>
            <a:r>
              <a:rPr lang="fr-FR" altLang="ko-KR" sz="3200" b="1" dirty="0">
                <a:solidFill>
                  <a:schemeClr val="bg1"/>
                </a:solidFill>
                <a:cs typeface="Arial" pitchFamily="34" charset="0"/>
              </a:rPr>
              <a:t>Applications</a:t>
            </a:r>
            <a:endParaRPr lang="ko-KR" altLang="en-US" sz="3200" b="1" dirty="0">
              <a:solidFill>
                <a:schemeClr val="bg1"/>
              </a:solidFill>
              <a:cs typeface="Arial" pitchFamily="34" charset="0"/>
            </a:endParaRPr>
          </a:p>
        </p:txBody>
      </p:sp>
      <p:sp>
        <p:nvSpPr>
          <p:cNvPr id="7" name="TextBox 21">
            <a:extLst>
              <a:ext uri="{FF2B5EF4-FFF2-40B4-BE49-F238E27FC236}">
                <a16:creationId xmlns:a16="http://schemas.microsoft.com/office/drawing/2014/main" id="{D6C24BE7-F4B7-4B22-90D0-D58085FC6A1F}"/>
              </a:ext>
            </a:extLst>
          </p:cNvPr>
          <p:cNvSpPr txBox="1"/>
          <p:nvPr/>
        </p:nvSpPr>
        <p:spPr>
          <a:xfrm>
            <a:off x="962938" y="993454"/>
            <a:ext cx="10052924" cy="5262979"/>
          </a:xfrm>
          <a:prstGeom prst="rect">
            <a:avLst/>
          </a:prstGeom>
          <a:noFill/>
        </p:spPr>
        <p:txBody>
          <a:bodyPr wrap="square" rtlCol="0">
            <a:spAutoFit/>
          </a:bodyPr>
          <a:lstStyle/>
          <a:p>
            <a:pPr algn="just"/>
            <a:r>
              <a:rPr lang="fr-FR" altLang="ko-KR" sz="2800" dirty="0">
                <a:solidFill>
                  <a:schemeClr val="bg1"/>
                </a:solidFill>
                <a:latin typeface="Arial" pitchFamily="34" charset="0"/>
                <a:cs typeface="Arial" pitchFamily="34" charset="0"/>
              </a:rPr>
              <a:t>L'API SensorThings permet l'accès et la diffusion de données collectées par des capteurs sur tout objet du monde physique (objets physiques) ou du monde de l'information (objets virtuels) pouvant être identifié et intégré dans des réseaux de communication.</a:t>
            </a:r>
          </a:p>
          <a:p>
            <a:pPr algn="just"/>
            <a:endParaRPr lang="fr-FR" altLang="ko-KR" sz="2800" dirty="0">
              <a:solidFill>
                <a:schemeClr val="bg1"/>
              </a:solidFill>
              <a:latin typeface="Arial" pitchFamily="34" charset="0"/>
              <a:cs typeface="Arial" pitchFamily="34" charset="0"/>
            </a:endParaRPr>
          </a:p>
          <a:p>
            <a:pPr algn="just"/>
            <a:r>
              <a:rPr lang="fr-FR" altLang="ko-KR" sz="2800" dirty="0">
                <a:solidFill>
                  <a:schemeClr val="bg1"/>
                </a:solidFill>
                <a:latin typeface="Arial" pitchFamily="34" charset="0"/>
                <a:cs typeface="Arial" pitchFamily="34" charset="0"/>
              </a:rPr>
              <a:t>Les données sont accessibles via une interface centrée sur les ressources et basée sur les principes de transfert d'état représentatif (REST).</a:t>
            </a:r>
          </a:p>
          <a:p>
            <a:pPr algn="just"/>
            <a:endParaRPr lang="fr-FR" altLang="ko-KR" sz="2800" dirty="0">
              <a:solidFill>
                <a:schemeClr val="bg1"/>
              </a:solidFill>
              <a:latin typeface="Arial" pitchFamily="34" charset="0"/>
              <a:cs typeface="Arial" pitchFamily="34" charset="0"/>
            </a:endParaRPr>
          </a:p>
          <a:p>
            <a:pPr algn="just"/>
            <a:r>
              <a:rPr lang="fr-FR" altLang="ko-KR" sz="2800" dirty="0">
                <a:solidFill>
                  <a:schemeClr val="bg1"/>
                </a:solidFill>
                <a:latin typeface="Arial" pitchFamily="34" charset="0"/>
                <a:cs typeface="Arial" pitchFamily="34" charset="0"/>
              </a:rPr>
              <a:t>Les données renvoyées par l'API sont sérialisées en JavaScript Object Notation (JSON).</a:t>
            </a:r>
          </a:p>
        </p:txBody>
      </p:sp>
    </p:spTree>
    <p:extLst>
      <p:ext uri="{BB962C8B-B14F-4D97-AF65-F5344CB8AC3E}">
        <p14:creationId xmlns:p14="http://schemas.microsoft.com/office/powerpoint/2010/main" val="86089629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4823C5-AAD3-4FB3-A25D-C238181A022C}"/>
              </a:ext>
            </a:extLst>
          </p:cNvPr>
          <p:cNvSpPr/>
          <p:nvPr/>
        </p:nvSpPr>
        <p:spPr>
          <a:xfrm>
            <a:off x="1028733" y="777263"/>
            <a:ext cx="10233316" cy="1776366"/>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19">
            <a:extLst>
              <a:ext uri="{FF2B5EF4-FFF2-40B4-BE49-F238E27FC236}">
                <a16:creationId xmlns:a16="http://schemas.microsoft.com/office/drawing/2014/main" id="{79426DEA-E145-4CB5-A124-03449CFBB3D2}"/>
              </a:ext>
            </a:extLst>
          </p:cNvPr>
          <p:cNvSpPr/>
          <p:nvPr/>
        </p:nvSpPr>
        <p:spPr>
          <a:xfrm>
            <a:off x="872742" y="422606"/>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20">
            <a:extLst>
              <a:ext uri="{FF2B5EF4-FFF2-40B4-BE49-F238E27FC236}">
                <a16:creationId xmlns:a16="http://schemas.microsoft.com/office/drawing/2014/main" id="{D5DFB5B5-FA64-4BEE-B753-0656AB389907}"/>
              </a:ext>
            </a:extLst>
          </p:cNvPr>
          <p:cNvSpPr txBox="1"/>
          <p:nvPr/>
        </p:nvSpPr>
        <p:spPr>
          <a:xfrm>
            <a:off x="777902" y="335279"/>
            <a:ext cx="6055666" cy="584775"/>
          </a:xfrm>
          <a:prstGeom prst="rect">
            <a:avLst/>
          </a:prstGeom>
          <a:noFill/>
        </p:spPr>
        <p:txBody>
          <a:bodyPr wrap="square" rtlCol="0">
            <a:spAutoFit/>
          </a:bodyPr>
          <a:lstStyle/>
          <a:p>
            <a:pPr algn="ctr"/>
            <a:r>
              <a:rPr lang="fr-FR" altLang="ko-KR" sz="3200" b="1" dirty="0">
                <a:solidFill>
                  <a:schemeClr val="bg1"/>
                </a:solidFill>
                <a:cs typeface="Arial" pitchFamily="34" charset="0"/>
              </a:rPr>
              <a:t>Interopérable</a:t>
            </a:r>
            <a:endParaRPr lang="ko-KR" altLang="en-US" sz="3200" b="1" dirty="0">
              <a:solidFill>
                <a:schemeClr val="bg1"/>
              </a:solidFill>
              <a:cs typeface="Arial" pitchFamily="34" charset="0"/>
            </a:endParaRPr>
          </a:p>
        </p:txBody>
      </p:sp>
      <p:sp>
        <p:nvSpPr>
          <p:cNvPr id="7" name="TextBox 21">
            <a:extLst>
              <a:ext uri="{FF2B5EF4-FFF2-40B4-BE49-F238E27FC236}">
                <a16:creationId xmlns:a16="http://schemas.microsoft.com/office/drawing/2014/main" id="{D6C24BE7-F4B7-4B22-90D0-D58085FC6A1F}"/>
              </a:ext>
            </a:extLst>
          </p:cNvPr>
          <p:cNvSpPr txBox="1"/>
          <p:nvPr/>
        </p:nvSpPr>
        <p:spPr>
          <a:xfrm>
            <a:off x="972133" y="1037403"/>
            <a:ext cx="10052924" cy="1631216"/>
          </a:xfrm>
          <a:prstGeom prst="rect">
            <a:avLst/>
          </a:prstGeom>
          <a:noFill/>
        </p:spPr>
        <p:txBody>
          <a:bodyPr wrap="square" rtlCol="0">
            <a:spAutoFit/>
          </a:bodyPr>
          <a:lstStyle/>
          <a:p>
            <a:pPr algn="just"/>
            <a:r>
              <a:rPr lang="fr-FR" altLang="ko-KR" sz="2800" dirty="0">
                <a:solidFill>
                  <a:schemeClr val="bg1"/>
                </a:solidFill>
                <a:latin typeface="Arial" pitchFamily="34" charset="0"/>
                <a:cs typeface="Arial" pitchFamily="34" charset="0"/>
              </a:rPr>
              <a:t>L’API </a:t>
            </a:r>
            <a:r>
              <a:rPr lang="fr-FR" altLang="ko-KR" sz="2800" dirty="0" err="1">
                <a:solidFill>
                  <a:schemeClr val="bg1"/>
                </a:solidFill>
                <a:latin typeface="Arial" pitchFamily="34" charset="0"/>
                <a:cs typeface="Arial" pitchFamily="34" charset="0"/>
              </a:rPr>
              <a:t>SensorThings</a:t>
            </a:r>
            <a:r>
              <a:rPr lang="fr-FR" altLang="ko-KR" sz="2800" dirty="0">
                <a:solidFill>
                  <a:schemeClr val="bg1"/>
                </a:solidFill>
                <a:latin typeface="Arial" pitchFamily="34" charset="0"/>
                <a:cs typeface="Arial" pitchFamily="34" charset="0"/>
              </a:rPr>
              <a:t> offre un standard ouvert, </a:t>
            </a:r>
            <a:r>
              <a:rPr lang="fr-FR" altLang="ko-KR" sz="2800" dirty="0" err="1">
                <a:solidFill>
                  <a:schemeClr val="bg1"/>
                </a:solidFill>
                <a:latin typeface="Arial" pitchFamily="34" charset="0"/>
                <a:cs typeface="Arial" pitchFamily="34" charset="0"/>
              </a:rPr>
              <a:t>géospatial</a:t>
            </a:r>
            <a:r>
              <a:rPr lang="fr-FR" altLang="ko-KR" sz="2800" dirty="0">
                <a:solidFill>
                  <a:schemeClr val="bg1"/>
                </a:solidFill>
                <a:latin typeface="Arial" pitchFamily="34" charset="0"/>
                <a:cs typeface="Arial" pitchFamily="34" charset="0"/>
              </a:rPr>
              <a:t> et unifié pour interconnecter, les données et les applications de l’Internet des objets (</a:t>
            </a:r>
            <a:r>
              <a:rPr lang="fr-FR" altLang="ko-KR" sz="2800" dirty="0" err="1">
                <a:solidFill>
                  <a:schemeClr val="bg1"/>
                </a:solidFill>
                <a:latin typeface="Arial" pitchFamily="34" charset="0"/>
                <a:cs typeface="Arial" pitchFamily="34" charset="0"/>
              </a:rPr>
              <a:t>IoT</a:t>
            </a:r>
            <a:r>
              <a:rPr lang="fr-FR" altLang="ko-KR" sz="2800" dirty="0">
                <a:solidFill>
                  <a:schemeClr val="bg1"/>
                </a:solidFill>
                <a:latin typeface="Arial" pitchFamily="34" charset="0"/>
                <a:cs typeface="Arial" pitchFamily="34" charset="0"/>
              </a:rPr>
              <a:t>) sur le Web.</a:t>
            </a:r>
          </a:p>
          <a:p>
            <a:pPr algn="just"/>
            <a:endParaRPr lang="en-US" altLang="ko-KR" sz="1600" dirty="0">
              <a:solidFill>
                <a:schemeClr val="bg1"/>
              </a:solidFill>
              <a:latin typeface="Arial" pitchFamily="34" charset="0"/>
              <a:cs typeface="Arial" pitchFamily="34" charset="0"/>
            </a:endParaRPr>
          </a:p>
        </p:txBody>
      </p:sp>
      <p:sp>
        <p:nvSpPr>
          <p:cNvPr id="8" name="Rectangle 7">
            <a:extLst>
              <a:ext uri="{FF2B5EF4-FFF2-40B4-BE49-F238E27FC236}">
                <a16:creationId xmlns:a16="http://schemas.microsoft.com/office/drawing/2014/main" id="{B04823C5-AAD3-4FB3-A25D-C238181A022C}"/>
              </a:ext>
            </a:extLst>
          </p:cNvPr>
          <p:cNvSpPr/>
          <p:nvPr/>
        </p:nvSpPr>
        <p:spPr>
          <a:xfrm>
            <a:off x="972133" y="3202835"/>
            <a:ext cx="10380112" cy="3153360"/>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19">
            <a:extLst>
              <a:ext uri="{FF2B5EF4-FFF2-40B4-BE49-F238E27FC236}">
                <a16:creationId xmlns:a16="http://schemas.microsoft.com/office/drawing/2014/main" id="{79426DEA-E145-4CB5-A124-03449CFBB3D2}"/>
              </a:ext>
            </a:extLst>
          </p:cNvPr>
          <p:cNvSpPr/>
          <p:nvPr/>
        </p:nvSpPr>
        <p:spPr>
          <a:xfrm>
            <a:off x="972133" y="2788245"/>
            <a:ext cx="2801845" cy="655627"/>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20">
            <a:extLst>
              <a:ext uri="{FF2B5EF4-FFF2-40B4-BE49-F238E27FC236}">
                <a16:creationId xmlns:a16="http://schemas.microsoft.com/office/drawing/2014/main" id="{D5DFB5B5-FA64-4BEE-B753-0656AB389907}"/>
              </a:ext>
            </a:extLst>
          </p:cNvPr>
          <p:cNvSpPr txBox="1"/>
          <p:nvPr/>
        </p:nvSpPr>
        <p:spPr>
          <a:xfrm>
            <a:off x="972133" y="2819282"/>
            <a:ext cx="2727031" cy="584775"/>
          </a:xfrm>
          <a:prstGeom prst="rect">
            <a:avLst/>
          </a:prstGeom>
          <a:noFill/>
        </p:spPr>
        <p:txBody>
          <a:bodyPr wrap="square" rtlCol="0">
            <a:spAutoFit/>
          </a:bodyPr>
          <a:lstStyle/>
          <a:p>
            <a:pPr algn="ctr"/>
            <a:r>
              <a:rPr lang="fr-FR" altLang="ko-KR" sz="3200" b="1" dirty="0">
                <a:solidFill>
                  <a:schemeClr val="bg1"/>
                </a:solidFill>
                <a:cs typeface="Arial" pitchFamily="34" charset="0"/>
              </a:rPr>
              <a:t>Standardisé</a:t>
            </a:r>
            <a:endParaRPr lang="ko-KR" altLang="en-US" sz="3200" b="1" dirty="0">
              <a:solidFill>
                <a:schemeClr val="bg1"/>
              </a:solidFill>
              <a:cs typeface="Arial" pitchFamily="34" charset="0"/>
            </a:endParaRPr>
          </a:p>
        </p:txBody>
      </p:sp>
      <p:sp>
        <p:nvSpPr>
          <p:cNvPr id="11" name="TextBox 21">
            <a:extLst>
              <a:ext uri="{FF2B5EF4-FFF2-40B4-BE49-F238E27FC236}">
                <a16:creationId xmlns:a16="http://schemas.microsoft.com/office/drawing/2014/main" id="{D6C24BE7-F4B7-4B22-90D0-D58085FC6A1F}"/>
              </a:ext>
            </a:extLst>
          </p:cNvPr>
          <p:cNvSpPr txBox="1"/>
          <p:nvPr/>
        </p:nvSpPr>
        <p:spPr>
          <a:xfrm>
            <a:off x="1118929" y="3502028"/>
            <a:ext cx="10052924" cy="2677656"/>
          </a:xfrm>
          <a:prstGeom prst="rect">
            <a:avLst/>
          </a:prstGeom>
          <a:noFill/>
        </p:spPr>
        <p:txBody>
          <a:bodyPr wrap="square" rtlCol="0">
            <a:spAutoFit/>
          </a:bodyPr>
          <a:lstStyle/>
          <a:p>
            <a:pPr algn="just"/>
            <a:r>
              <a:rPr lang="fr-FR" altLang="ko-KR" sz="2800" dirty="0">
                <a:solidFill>
                  <a:schemeClr val="bg1"/>
                </a:solidFill>
                <a:latin typeface="Arial" pitchFamily="34" charset="0"/>
                <a:cs typeface="Arial" pitchFamily="34" charset="0"/>
              </a:rPr>
              <a:t>L’API </a:t>
            </a:r>
            <a:r>
              <a:rPr lang="fr-FR" altLang="ko-KR" sz="2800" dirty="0" err="1">
                <a:solidFill>
                  <a:schemeClr val="bg1"/>
                </a:solidFill>
                <a:latin typeface="Arial" pitchFamily="34" charset="0"/>
                <a:cs typeface="Arial" pitchFamily="34" charset="0"/>
              </a:rPr>
              <a:t>SensorThings</a:t>
            </a:r>
            <a:r>
              <a:rPr lang="fr-FR" altLang="ko-KR" sz="2800" dirty="0">
                <a:solidFill>
                  <a:schemeClr val="bg1"/>
                </a:solidFill>
                <a:latin typeface="Arial" pitchFamily="34" charset="0"/>
                <a:cs typeface="Arial" pitchFamily="34" charset="0"/>
              </a:rPr>
              <a:t> est basée sur le modèle Observation de O&amp;M et est inspirée par les standards OGC SWE (</a:t>
            </a:r>
            <a:r>
              <a:rPr lang="fr-FR" altLang="ko-KR" sz="2800" dirty="0" err="1">
                <a:solidFill>
                  <a:schemeClr val="bg1"/>
                </a:solidFill>
                <a:latin typeface="Arial" pitchFamily="34" charset="0"/>
                <a:cs typeface="Arial" pitchFamily="34" charset="0"/>
              </a:rPr>
              <a:t>Sensor</a:t>
            </a:r>
            <a:r>
              <a:rPr lang="fr-FR" altLang="ko-KR" sz="2800" dirty="0">
                <a:solidFill>
                  <a:schemeClr val="bg1"/>
                </a:solidFill>
                <a:latin typeface="Arial" pitchFamily="34" charset="0"/>
                <a:cs typeface="Arial" pitchFamily="34" charset="0"/>
              </a:rPr>
              <a:t>-Web-</a:t>
            </a:r>
            <a:r>
              <a:rPr lang="fr-FR" altLang="ko-KR" sz="2800" dirty="0" err="1">
                <a:solidFill>
                  <a:schemeClr val="bg1"/>
                </a:solidFill>
                <a:latin typeface="Arial" pitchFamily="34" charset="0"/>
                <a:cs typeface="Arial" pitchFamily="34" charset="0"/>
              </a:rPr>
              <a:t>Enablement</a:t>
            </a:r>
            <a:r>
              <a:rPr lang="fr-FR" altLang="ko-KR" sz="2800" dirty="0">
                <a:solidFill>
                  <a:schemeClr val="bg1"/>
                </a:solidFill>
                <a:latin typeface="Arial" pitchFamily="34" charset="0"/>
                <a:cs typeface="Arial" pitchFamily="34" charset="0"/>
              </a:rPr>
              <a:t>) </a:t>
            </a:r>
            <a:r>
              <a:rPr lang="fr-FR" altLang="ko-KR" sz="2800" dirty="0" err="1">
                <a:solidFill>
                  <a:schemeClr val="bg1"/>
                </a:solidFill>
                <a:latin typeface="Arial" pitchFamily="34" charset="0"/>
                <a:cs typeface="Arial" pitchFamily="34" charset="0"/>
              </a:rPr>
              <a:t>SensorML</a:t>
            </a:r>
            <a:r>
              <a:rPr lang="fr-FR" altLang="ko-KR" sz="2800" dirty="0">
                <a:solidFill>
                  <a:schemeClr val="bg1"/>
                </a:solidFill>
                <a:latin typeface="Arial" pitchFamily="34" charset="0"/>
                <a:cs typeface="Arial" pitchFamily="34" charset="0"/>
              </a:rPr>
              <a:t> et SOS, dont elle fournit une interface </a:t>
            </a:r>
            <a:r>
              <a:rPr lang="fr-FR" altLang="ko-KR" sz="2800" dirty="0" err="1">
                <a:solidFill>
                  <a:schemeClr val="bg1"/>
                </a:solidFill>
                <a:latin typeface="Arial" pitchFamily="34" charset="0"/>
                <a:cs typeface="Arial" pitchFamily="34" charset="0"/>
              </a:rPr>
              <a:t>géospatiale</a:t>
            </a:r>
            <a:r>
              <a:rPr lang="fr-FR" altLang="ko-KR" sz="2800" dirty="0">
                <a:solidFill>
                  <a:schemeClr val="bg1"/>
                </a:solidFill>
                <a:latin typeface="Arial" pitchFamily="34" charset="0"/>
                <a:cs typeface="Arial" pitchFamily="34" charset="0"/>
              </a:rPr>
              <a:t> de profils « légers ». Elle est conforme aux principes d’une API de type REST, utilise les protocoles OASIS </a:t>
            </a:r>
            <a:r>
              <a:rPr lang="fr-FR" altLang="ko-KR" sz="2800" dirty="0" err="1">
                <a:solidFill>
                  <a:schemeClr val="bg1"/>
                </a:solidFill>
                <a:latin typeface="Arial" pitchFamily="34" charset="0"/>
                <a:cs typeface="Arial" pitchFamily="34" charset="0"/>
              </a:rPr>
              <a:t>OData</a:t>
            </a:r>
            <a:r>
              <a:rPr lang="fr-FR" altLang="ko-KR" sz="2800" dirty="0">
                <a:solidFill>
                  <a:schemeClr val="bg1"/>
                </a:solidFill>
                <a:latin typeface="Arial" pitchFamily="34" charset="0"/>
                <a:cs typeface="Arial" pitchFamily="34" charset="0"/>
              </a:rPr>
              <a:t> et un encodage natif en JSON.</a:t>
            </a:r>
            <a:endParaRPr lang="en-US" altLang="ko-KR" sz="2800"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245921118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1">
                                            <p:txEl>
                                              <p:pRg st="0" end="0"/>
                                            </p:txEl>
                                          </p:spTgt>
                                        </p:tgtEl>
                                        <p:attrNameLst>
                                          <p:attrName>style.visibility</p:attrName>
                                        </p:attrNameLst>
                                      </p:cBhvr>
                                      <p:to>
                                        <p:strVal val="visible"/>
                                      </p:to>
                                    </p:set>
                                    <p:animEffect transition="in" filter="fade">
                                      <p:cBhvr>
                                        <p:cTn id="21"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66459" y="8358"/>
            <a:ext cx="1425541" cy="724085"/>
          </a:xfrm>
          <a:prstGeom prst="rect">
            <a:avLst/>
          </a:prstGeom>
        </p:spPr>
      </p:pic>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27553"/>
            <a:ext cx="12192000" cy="4404917"/>
          </a:xfrm>
          <a:prstGeom prst="rect">
            <a:avLst/>
          </a:prstGeom>
        </p:spPr>
      </p:pic>
      <p:sp>
        <p:nvSpPr>
          <p:cNvPr id="14" name="Rectangle 13">
            <a:extLst>
              <a:ext uri="{FF2B5EF4-FFF2-40B4-BE49-F238E27FC236}">
                <a16:creationId xmlns:a16="http://schemas.microsoft.com/office/drawing/2014/main" id="{B04823C5-AAD3-4FB3-A25D-C238181A022C}"/>
              </a:ext>
            </a:extLst>
          </p:cNvPr>
          <p:cNvSpPr/>
          <p:nvPr/>
        </p:nvSpPr>
        <p:spPr>
          <a:xfrm>
            <a:off x="456456" y="732443"/>
            <a:ext cx="10233316" cy="1436377"/>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Rounded Corners 19">
            <a:extLst>
              <a:ext uri="{FF2B5EF4-FFF2-40B4-BE49-F238E27FC236}">
                <a16:creationId xmlns:a16="http://schemas.microsoft.com/office/drawing/2014/main" id="{79426DEA-E145-4CB5-A124-03449CFBB3D2}"/>
              </a:ext>
            </a:extLst>
          </p:cNvPr>
          <p:cNvSpPr/>
          <p:nvPr/>
        </p:nvSpPr>
        <p:spPr>
          <a:xfrm>
            <a:off x="309660" y="321686"/>
            <a:ext cx="2801845" cy="66218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20">
            <a:extLst>
              <a:ext uri="{FF2B5EF4-FFF2-40B4-BE49-F238E27FC236}">
                <a16:creationId xmlns:a16="http://schemas.microsoft.com/office/drawing/2014/main" id="{D5DFB5B5-FA64-4BEE-B753-0656AB389907}"/>
              </a:ext>
            </a:extLst>
          </p:cNvPr>
          <p:cNvSpPr txBox="1"/>
          <p:nvPr/>
        </p:nvSpPr>
        <p:spPr>
          <a:xfrm>
            <a:off x="309660" y="353077"/>
            <a:ext cx="2727031" cy="584775"/>
          </a:xfrm>
          <a:prstGeom prst="rect">
            <a:avLst/>
          </a:prstGeom>
          <a:noFill/>
        </p:spPr>
        <p:txBody>
          <a:bodyPr wrap="square" rtlCol="0">
            <a:spAutoFit/>
          </a:bodyPr>
          <a:lstStyle/>
          <a:p>
            <a:pPr algn="ctr"/>
            <a:r>
              <a:rPr lang="fr-FR" altLang="ko-KR" sz="3200" b="1" dirty="0">
                <a:solidFill>
                  <a:schemeClr val="bg1"/>
                </a:solidFill>
                <a:cs typeface="Arial" pitchFamily="34" charset="0"/>
              </a:rPr>
              <a:t>API </a:t>
            </a:r>
            <a:r>
              <a:rPr lang="fr-FR" altLang="ko-KR" sz="3200" b="1" dirty="0" err="1">
                <a:solidFill>
                  <a:schemeClr val="bg1"/>
                </a:solidFill>
                <a:cs typeface="Arial" pitchFamily="34" charset="0"/>
              </a:rPr>
              <a:t>Rest</a:t>
            </a:r>
            <a:endParaRPr lang="ko-KR" altLang="en-US" sz="3200" b="1" dirty="0">
              <a:solidFill>
                <a:schemeClr val="bg1"/>
              </a:solidFill>
              <a:cs typeface="Arial" pitchFamily="34" charset="0"/>
            </a:endParaRPr>
          </a:p>
        </p:txBody>
      </p:sp>
      <p:sp>
        <p:nvSpPr>
          <p:cNvPr id="17" name="TextBox 21">
            <a:extLst>
              <a:ext uri="{FF2B5EF4-FFF2-40B4-BE49-F238E27FC236}">
                <a16:creationId xmlns:a16="http://schemas.microsoft.com/office/drawing/2014/main" id="{D6C24BE7-F4B7-4B22-90D0-D58085FC6A1F}"/>
              </a:ext>
            </a:extLst>
          </p:cNvPr>
          <p:cNvSpPr txBox="1"/>
          <p:nvPr/>
        </p:nvSpPr>
        <p:spPr>
          <a:xfrm>
            <a:off x="456456" y="1033361"/>
            <a:ext cx="10052924" cy="830997"/>
          </a:xfrm>
          <a:prstGeom prst="rect">
            <a:avLst/>
          </a:prstGeom>
          <a:noFill/>
        </p:spPr>
        <p:txBody>
          <a:bodyPr wrap="square" rtlCol="0">
            <a:spAutoFit/>
          </a:bodyPr>
          <a:lstStyle/>
          <a:p>
            <a:pPr algn="just"/>
            <a:r>
              <a:rPr lang="fr-FR" altLang="ko-KR" sz="1600" dirty="0">
                <a:solidFill>
                  <a:schemeClr val="bg1"/>
                </a:solidFill>
                <a:latin typeface="Arial" pitchFamily="34" charset="0"/>
                <a:cs typeface="Arial" pitchFamily="34" charset="0"/>
              </a:rPr>
              <a:t>Une API REST (également appelée API </a:t>
            </a:r>
            <a:r>
              <a:rPr lang="fr-FR" altLang="ko-KR" sz="1600" dirty="0" err="1">
                <a:solidFill>
                  <a:schemeClr val="bg1"/>
                </a:solidFill>
                <a:latin typeface="Arial" pitchFamily="34" charset="0"/>
                <a:cs typeface="Arial" pitchFamily="34" charset="0"/>
              </a:rPr>
              <a:t>RESTful</a:t>
            </a:r>
            <a:r>
              <a:rPr lang="fr-FR" altLang="ko-KR" sz="1600" dirty="0">
                <a:solidFill>
                  <a:schemeClr val="bg1"/>
                </a:solidFill>
                <a:latin typeface="Arial" pitchFamily="34" charset="0"/>
                <a:cs typeface="Arial" pitchFamily="34" charset="0"/>
              </a:rPr>
              <a:t>) est une interface de programmation d'application (API ou API web) qui respecte les contraintes du style d'architecture REST et permet d'interagir avec les services web </a:t>
            </a:r>
            <a:r>
              <a:rPr lang="fr-FR" altLang="ko-KR" sz="1600" dirty="0" err="1">
                <a:solidFill>
                  <a:schemeClr val="bg1"/>
                </a:solidFill>
                <a:latin typeface="Arial" pitchFamily="34" charset="0"/>
                <a:cs typeface="Arial" pitchFamily="34" charset="0"/>
              </a:rPr>
              <a:t>RESTful</a:t>
            </a:r>
            <a:r>
              <a:rPr lang="fr-FR" altLang="ko-KR" sz="1600" dirty="0">
                <a:solidFill>
                  <a:schemeClr val="bg1"/>
                </a:solidFill>
                <a:latin typeface="Arial" pitchFamily="34" charset="0"/>
                <a:cs typeface="Arial" pitchFamily="34" charset="0"/>
              </a:rPr>
              <a:t>. L'architecture REST (</a:t>
            </a:r>
            <a:r>
              <a:rPr lang="fr-FR" altLang="ko-KR" sz="1600" dirty="0" err="1">
                <a:solidFill>
                  <a:schemeClr val="bg1"/>
                </a:solidFill>
                <a:latin typeface="Arial" pitchFamily="34" charset="0"/>
                <a:cs typeface="Arial" pitchFamily="34" charset="0"/>
              </a:rPr>
              <a:t>Representational</a:t>
            </a:r>
            <a:r>
              <a:rPr lang="fr-FR" altLang="ko-KR" sz="1600" dirty="0">
                <a:solidFill>
                  <a:schemeClr val="bg1"/>
                </a:solidFill>
                <a:latin typeface="Arial" pitchFamily="34" charset="0"/>
                <a:cs typeface="Arial" pitchFamily="34" charset="0"/>
              </a:rPr>
              <a:t> State Transfer).</a:t>
            </a:r>
            <a:endParaRPr lang="en-US" altLang="ko-KR" sz="1600"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77140255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7">
                                            <p:txEl>
                                              <p:pRg st="0" end="0"/>
                                            </p:txEl>
                                          </p:spTgt>
                                        </p:tgtEl>
                                        <p:attrNameLst>
                                          <p:attrName>style.visibility</p:attrName>
                                        </p:attrNameLst>
                                      </p:cBhvr>
                                      <p:to>
                                        <p:strVal val="visible"/>
                                      </p:to>
                                    </p:set>
                                    <p:animEffect transition="in" filter="fade">
                                      <p:cBhvr>
                                        <p:cTn id="21" dur="500"/>
                                        <p:tgtEl>
                                          <p:spTgt spid="17">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0625" y="0"/>
            <a:ext cx="9221916" cy="6540813"/>
          </a:xfrm>
          <a:prstGeom prst="rect">
            <a:avLst/>
          </a:prstGeom>
        </p:spPr>
      </p:pic>
      <p:sp>
        <p:nvSpPr>
          <p:cNvPr id="7" name="Rectangle: Rounded Corners 19">
            <a:extLst>
              <a:ext uri="{FF2B5EF4-FFF2-40B4-BE49-F238E27FC236}">
                <a16:creationId xmlns:a16="http://schemas.microsoft.com/office/drawing/2014/main" id="{79426DEA-E145-4CB5-A124-03449CFBB3D2}"/>
              </a:ext>
            </a:extLst>
          </p:cNvPr>
          <p:cNvSpPr/>
          <p:nvPr/>
        </p:nvSpPr>
        <p:spPr>
          <a:xfrm>
            <a:off x="283103" y="479620"/>
            <a:ext cx="2801845" cy="655627"/>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20">
            <a:extLst>
              <a:ext uri="{FF2B5EF4-FFF2-40B4-BE49-F238E27FC236}">
                <a16:creationId xmlns:a16="http://schemas.microsoft.com/office/drawing/2014/main" id="{D5DFB5B5-FA64-4BEE-B753-0656AB389907}"/>
              </a:ext>
            </a:extLst>
          </p:cNvPr>
          <p:cNvSpPr txBox="1"/>
          <p:nvPr/>
        </p:nvSpPr>
        <p:spPr>
          <a:xfrm>
            <a:off x="341663" y="550472"/>
            <a:ext cx="2727031" cy="584775"/>
          </a:xfrm>
          <a:prstGeom prst="rect">
            <a:avLst/>
          </a:prstGeom>
          <a:noFill/>
        </p:spPr>
        <p:txBody>
          <a:bodyPr wrap="square" rtlCol="0">
            <a:spAutoFit/>
          </a:bodyPr>
          <a:lstStyle/>
          <a:p>
            <a:pPr algn="ctr"/>
            <a:r>
              <a:rPr lang="fr-FR" altLang="ko-KR" sz="3200" b="1" dirty="0">
                <a:solidFill>
                  <a:schemeClr val="bg1"/>
                </a:solidFill>
                <a:cs typeface="Arial" pitchFamily="34" charset="0"/>
              </a:rPr>
              <a:t>Le </a:t>
            </a:r>
            <a:r>
              <a:rPr lang="fr-FR" altLang="ko-KR" sz="3200" b="1" dirty="0" err="1">
                <a:solidFill>
                  <a:schemeClr val="bg1"/>
                </a:solidFill>
                <a:cs typeface="Arial" pitchFamily="34" charset="0"/>
              </a:rPr>
              <a:t>modéle</a:t>
            </a:r>
            <a:endParaRPr lang="ko-KR" altLang="en-US" sz="3200" b="1" dirty="0">
              <a:solidFill>
                <a:schemeClr val="bg1"/>
              </a:solidFill>
              <a:cs typeface="Arial" pitchFamily="34" charset="0"/>
            </a:endParaRPr>
          </a:p>
        </p:txBody>
      </p:sp>
      <p:pic>
        <p:nvPicPr>
          <p:cNvPr id="6" name="Imag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8492" y="222529"/>
            <a:ext cx="2442547" cy="1240660"/>
          </a:xfrm>
          <a:prstGeom prst="rect">
            <a:avLst/>
          </a:prstGeom>
        </p:spPr>
      </p:pic>
    </p:spTree>
    <p:extLst>
      <p:ext uri="{BB962C8B-B14F-4D97-AF65-F5344CB8AC3E}">
        <p14:creationId xmlns:p14="http://schemas.microsoft.com/office/powerpoint/2010/main" val="28815320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108" y="138342"/>
            <a:ext cx="8060515" cy="4554191"/>
          </a:xfrm>
          <a:prstGeom prst="rect">
            <a:avLst/>
          </a:prstGeom>
        </p:spPr>
      </p:pic>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4272" y="2620065"/>
            <a:ext cx="5943108" cy="4144937"/>
          </a:xfrm>
          <a:prstGeom prst="rect">
            <a:avLst/>
          </a:prstGeom>
        </p:spPr>
      </p:pic>
    </p:spTree>
    <p:extLst>
      <p:ext uri="{BB962C8B-B14F-4D97-AF65-F5344CB8AC3E}">
        <p14:creationId xmlns:p14="http://schemas.microsoft.com/office/powerpoint/2010/main" val="1714855083"/>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nvPicPr>
        <p:blipFill>
          <a:blip r:embed="rId2"/>
          <a:stretch/>
        </p:blipFill>
        <p:spPr bwMode="auto">
          <a:xfrm>
            <a:off x="9580003" y="4934457"/>
            <a:ext cx="1508802" cy="1721152"/>
          </a:xfrm>
          <a:prstGeom prst="rect">
            <a:avLst/>
          </a:prstGeom>
        </p:spPr>
      </p:pic>
      <p:pic>
        <p:nvPicPr>
          <p:cNvPr id="8" name="Image 7"/>
          <p:cNvPicPr>
            <a:picLocks noChangeAspect="1"/>
          </p:cNvPicPr>
          <p:nvPr/>
        </p:nvPicPr>
        <p:blipFill>
          <a:blip r:embed="rId3"/>
          <a:stretch/>
        </p:blipFill>
        <p:spPr bwMode="auto">
          <a:xfrm>
            <a:off x="6347440" y="3688517"/>
            <a:ext cx="3232562" cy="1252617"/>
          </a:xfrm>
          <a:prstGeom prst="rect">
            <a:avLst/>
          </a:prstGeom>
        </p:spPr>
      </p:pic>
      <p:sp>
        <p:nvSpPr>
          <p:cNvPr id="9" name="Заголовок 1"/>
          <p:cNvSpPr txBox="1">
            <a:spLocks/>
          </p:cNvSpPr>
          <p:nvPr/>
        </p:nvSpPr>
        <p:spPr bwMode="auto">
          <a:xfrm>
            <a:off x="609599" y="274638"/>
            <a:ext cx="10972800"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fr-FR" dirty="0"/>
              <a:t>Utilisation de l’API </a:t>
            </a:r>
            <a:r>
              <a:rPr lang="fr-FR" dirty="0" err="1"/>
              <a:t>SensorThings</a:t>
            </a:r>
            <a:endParaRPr lang="fr-FR" dirty="0"/>
          </a:p>
        </p:txBody>
      </p:sp>
      <p:sp>
        <p:nvSpPr>
          <p:cNvPr id="10" name="Объект 2"/>
          <p:cNvSpPr txBox="1">
            <a:spLocks/>
          </p:cNvSpPr>
          <p:nvPr/>
        </p:nvSpPr>
        <p:spPr bwMode="auto">
          <a:xfrm>
            <a:off x="609599" y="1600201"/>
            <a:ext cx="10972800" cy="45259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dirty="0" err="1"/>
              <a:t>En</a:t>
            </a:r>
            <a:r>
              <a:rPr lang="en-US" dirty="0"/>
              <a:t> </a:t>
            </a:r>
            <a:r>
              <a:rPr lang="en-US" dirty="0" err="1"/>
              <a:t>terme</a:t>
            </a:r>
            <a:r>
              <a:rPr lang="en-US" dirty="0"/>
              <a:t> simples</a:t>
            </a:r>
          </a:p>
        </p:txBody>
      </p:sp>
      <p:cxnSp>
        <p:nvCxnSpPr>
          <p:cNvPr id="11" name="Connecteur droit 10"/>
          <p:cNvCxnSpPr>
            <a:cxnSpLocks/>
            <a:stCxn id="17" idx="2"/>
            <a:endCxn id="12" idx="1"/>
          </p:cNvCxnSpPr>
          <p:nvPr/>
        </p:nvCxnSpPr>
        <p:spPr bwMode="auto">
          <a:xfrm rot="5399943" flipV="1">
            <a:off x="6125124" y="1601786"/>
            <a:ext cx="1068471" cy="2878749"/>
          </a:xfrm>
          <a:prstGeom prst="line">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cxnSp>
        <p:nvCxnSpPr>
          <p:cNvPr id="12" name="Connecteur droit 11"/>
          <p:cNvCxnSpPr>
            <a:cxnSpLocks/>
          </p:cNvCxnSpPr>
          <p:nvPr/>
        </p:nvCxnSpPr>
        <p:spPr bwMode="auto">
          <a:xfrm rot="5399943" flipV="1">
            <a:off x="7511583" y="2988245"/>
            <a:ext cx="1174303" cy="0"/>
          </a:xfrm>
          <a:prstGeom prst="line">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cxnSp>
        <p:nvCxnSpPr>
          <p:cNvPr id="13" name="Connecteur droit 12"/>
          <p:cNvCxnSpPr>
            <a:cxnSpLocks/>
          </p:cNvCxnSpPr>
          <p:nvPr/>
        </p:nvCxnSpPr>
        <p:spPr bwMode="auto">
          <a:xfrm flipV="1">
            <a:off x="8892128" y="3956397"/>
            <a:ext cx="1375748" cy="0"/>
          </a:xfrm>
          <a:prstGeom prst="line">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cxnSp>
        <p:nvCxnSpPr>
          <p:cNvPr id="14" name="Connecteur droit 13"/>
          <p:cNvCxnSpPr>
            <a:cxnSpLocks/>
          </p:cNvCxnSpPr>
          <p:nvPr/>
        </p:nvCxnSpPr>
        <p:spPr bwMode="auto">
          <a:xfrm rot="5399943" flipV="1">
            <a:off x="10685918" y="4459550"/>
            <a:ext cx="666748" cy="0"/>
          </a:xfrm>
          <a:prstGeom prst="line">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cxnSp>
        <p:nvCxnSpPr>
          <p:cNvPr id="15" name="Connecteur en angle 14"/>
          <p:cNvCxnSpPr>
            <a:cxnSpLocks/>
            <a:stCxn id="19" idx="1"/>
          </p:cNvCxnSpPr>
          <p:nvPr/>
        </p:nvCxnSpPr>
        <p:spPr bwMode="auto">
          <a:xfrm rot="10799956" flipV="1">
            <a:off x="5219987" y="3956397"/>
            <a:ext cx="2180247" cy="540279"/>
          </a:xfrm>
          <a:prstGeom prst="bentConnector3">
            <a:avLst>
              <a:gd name="adj1" fmla="val 99999"/>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sp>
        <p:nvSpPr>
          <p:cNvPr id="17" name="Rectangle 16"/>
          <p:cNvSpPr/>
          <p:nvPr/>
        </p:nvSpPr>
        <p:spPr bwMode="auto">
          <a:xfrm>
            <a:off x="4468568" y="1744925"/>
            <a:ext cx="1502832" cy="761998"/>
          </a:xfrm>
          <a:prstGeom prst="rect">
            <a:avLst/>
          </a:prstGeom>
          <a:solidFill>
            <a:schemeClr val="bg1"/>
          </a:solidFill>
          <a:ln w="28575" cap="flat" cmpd="sng" algn="ctr">
            <a:solidFill>
              <a:schemeClr val="accent3"/>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clip" vert="horz" wrap="square" lIns="91440" tIns="45720" rIns="91440" bIns="45720" numCol="1" spcCol="0" rtlCol="0" fromWordArt="0" anchor="ctr" anchorCtr="0" forceAA="0" compatLnSpc="0"/>
          <a:lstStyle/>
          <a:p>
            <a:pPr algn="ctr"/>
            <a:r>
              <a:rPr>
                <a:solidFill>
                  <a:schemeClr val="tx1"/>
                </a:solidFill>
              </a:rPr>
              <a:t>Observation</a:t>
            </a:r>
          </a:p>
          <a:p>
            <a:pPr algn="ctr"/>
            <a:r>
              <a:rPr>
                <a:solidFill>
                  <a:schemeClr val="tx1"/>
                </a:solidFill>
              </a:rPr>
              <a:t>method</a:t>
            </a:r>
          </a:p>
        </p:txBody>
      </p:sp>
      <p:sp>
        <p:nvSpPr>
          <p:cNvPr id="18" name="Rectangle 17"/>
          <p:cNvSpPr/>
          <p:nvPr/>
        </p:nvSpPr>
        <p:spPr bwMode="auto">
          <a:xfrm>
            <a:off x="7400235" y="1670314"/>
            <a:ext cx="1502832" cy="761998"/>
          </a:xfrm>
          <a:prstGeom prst="rect">
            <a:avLst/>
          </a:prstGeom>
          <a:solidFill>
            <a:schemeClr val="bg1"/>
          </a:solidFill>
          <a:ln w="38099" cap="flat" cmpd="sng" algn="ctr">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clip" vert="horz" wrap="square" lIns="91440" tIns="45720" rIns="91440" bIns="45720" numCol="1" spcCol="0" rtlCol="0" fromWordArt="0" anchor="ctr" anchorCtr="0" forceAA="0" compatLnSpc="0"/>
          <a:lstStyle/>
          <a:p>
            <a:pPr algn="ctr"/>
            <a:r>
              <a:rPr>
                <a:solidFill>
                  <a:schemeClr val="tx1"/>
                </a:solidFill>
              </a:rPr>
              <a:t>Observed</a:t>
            </a:r>
          </a:p>
          <a:p>
            <a:pPr algn="ctr"/>
            <a:r>
              <a:rPr>
                <a:solidFill>
                  <a:schemeClr val="tx1"/>
                </a:solidFill>
              </a:rPr>
              <a:t>property</a:t>
            </a:r>
          </a:p>
        </p:txBody>
      </p:sp>
      <p:sp>
        <p:nvSpPr>
          <p:cNvPr id="19" name="Rectangle 18"/>
          <p:cNvSpPr/>
          <p:nvPr/>
        </p:nvSpPr>
        <p:spPr bwMode="auto">
          <a:xfrm>
            <a:off x="7400236" y="3575397"/>
            <a:ext cx="1502832" cy="761998"/>
          </a:xfrm>
          <a:prstGeom prst="rect">
            <a:avLst/>
          </a:prstGeom>
          <a:solidFill>
            <a:schemeClr val="bg1"/>
          </a:solidFill>
          <a:ln w="38099" cap="flat" cmpd="sng" algn="ctr">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clip" vert="horz" wrap="square" lIns="91440" tIns="45720" rIns="91440" bIns="45720" numCol="1" spcCol="0" rtlCol="0" fromWordArt="0" anchor="ctr" anchorCtr="0" forceAA="0" compatLnSpc="0"/>
          <a:lstStyle/>
          <a:p>
            <a:pPr algn="ctr"/>
            <a:r>
              <a:rPr>
                <a:solidFill>
                  <a:schemeClr val="tx1"/>
                </a:solidFill>
              </a:rPr>
              <a:t>Observation</a:t>
            </a:r>
          </a:p>
          <a:p>
            <a:pPr algn="ctr"/>
            <a:r>
              <a:rPr>
                <a:solidFill>
                  <a:schemeClr val="tx1"/>
                </a:solidFill>
              </a:rPr>
              <a:t>collection</a:t>
            </a:r>
          </a:p>
        </p:txBody>
      </p:sp>
      <p:sp>
        <p:nvSpPr>
          <p:cNvPr id="20" name="Rectangle 19"/>
          <p:cNvSpPr/>
          <p:nvPr/>
        </p:nvSpPr>
        <p:spPr bwMode="auto">
          <a:xfrm>
            <a:off x="10278818" y="3575397"/>
            <a:ext cx="1502832" cy="761998"/>
          </a:xfrm>
          <a:prstGeom prst="rect">
            <a:avLst/>
          </a:prstGeom>
          <a:solidFill>
            <a:schemeClr val="bg1"/>
          </a:solidFill>
          <a:ln w="38099" cap="flat" cmpd="sng" algn="ctr">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clip" vert="horz" wrap="square" lIns="91440" tIns="45720" rIns="91440" bIns="45720" numCol="1" spcCol="0" rtlCol="0" fromWordArt="0" anchor="ctr" anchorCtr="0" forceAA="0" compatLnSpc="0"/>
          <a:lstStyle/>
          <a:p>
            <a:r>
              <a:rPr>
                <a:solidFill>
                  <a:schemeClr val="tx1"/>
                </a:solidFill>
              </a:rPr>
              <a:t>Observation</a:t>
            </a:r>
          </a:p>
        </p:txBody>
      </p:sp>
      <p:sp>
        <p:nvSpPr>
          <p:cNvPr id="21" name="Rectangle 20"/>
          <p:cNvSpPr/>
          <p:nvPr/>
        </p:nvSpPr>
        <p:spPr bwMode="auto">
          <a:xfrm>
            <a:off x="10267877" y="4814133"/>
            <a:ext cx="1502832" cy="761998"/>
          </a:xfrm>
          <a:prstGeom prst="rect">
            <a:avLst/>
          </a:prstGeom>
          <a:solidFill>
            <a:schemeClr val="bg1"/>
          </a:solidFill>
          <a:ln w="38099" cap="flat" cmpd="sng" algn="ctr">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a:solidFill>
                  <a:schemeClr val="tx1"/>
                </a:solidFill>
              </a:rPr>
              <a:t>Feature</a:t>
            </a:r>
          </a:p>
          <a:p>
            <a:pPr algn="ctr">
              <a:defRPr/>
            </a:pPr>
            <a:r>
              <a:rPr>
                <a:solidFill>
                  <a:schemeClr val="tx1"/>
                </a:solidFill>
              </a:rPr>
              <a:t>of interest</a:t>
            </a:r>
          </a:p>
        </p:txBody>
      </p:sp>
      <p:sp>
        <p:nvSpPr>
          <p:cNvPr id="22" name="Rectangle 21"/>
          <p:cNvSpPr/>
          <p:nvPr/>
        </p:nvSpPr>
        <p:spPr bwMode="auto">
          <a:xfrm>
            <a:off x="4447444" y="4496678"/>
            <a:ext cx="1502832" cy="888913"/>
          </a:xfrm>
          <a:prstGeom prst="rect">
            <a:avLst/>
          </a:prstGeom>
          <a:solidFill>
            <a:schemeClr val="bg1"/>
          </a:solidFill>
          <a:ln w="38099" cap="flat" cmpd="sng" algn="ctr">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lang="fr-FR" sz="1800" b="0" i="0" u="none" strike="noStrike" cap="none" spc="0">
                <a:solidFill>
                  <a:schemeClr val="tx1"/>
                </a:solidFill>
                <a:latin typeface="+mn-lt"/>
                <a:ea typeface="+mn-ea"/>
                <a:cs typeface="+mn-cs"/>
              </a:rPr>
              <a:t>Observer / Sensor / Station</a:t>
            </a:r>
            <a:endParaRPr>
              <a:solidFill>
                <a:schemeClr val="tx1"/>
              </a:solidFill>
            </a:endParaRPr>
          </a:p>
        </p:txBody>
      </p:sp>
      <p:pic>
        <p:nvPicPr>
          <p:cNvPr id="23" name="Image 22"/>
          <p:cNvPicPr>
            <a:picLocks noChangeAspect="1"/>
          </p:cNvPicPr>
          <p:nvPr/>
        </p:nvPicPr>
        <p:blipFill>
          <a:blip r:embed="rId4"/>
          <a:srcRect l="25649" r="25498"/>
          <a:stretch/>
        </p:blipFill>
        <p:spPr bwMode="auto">
          <a:xfrm>
            <a:off x="6004474" y="1402026"/>
            <a:ext cx="568854" cy="1164431"/>
          </a:xfrm>
          <a:prstGeom prst="rect">
            <a:avLst/>
          </a:prstGeom>
        </p:spPr>
      </p:pic>
      <p:pic>
        <p:nvPicPr>
          <p:cNvPr id="24" name="Image 23"/>
          <p:cNvPicPr>
            <a:picLocks noChangeAspect="1"/>
          </p:cNvPicPr>
          <p:nvPr/>
        </p:nvPicPr>
        <p:blipFill>
          <a:blip r:embed="rId5"/>
          <a:stretch/>
        </p:blipFill>
        <p:spPr bwMode="auto">
          <a:xfrm>
            <a:off x="8962516" y="1505657"/>
            <a:ext cx="1389983" cy="926655"/>
          </a:xfrm>
          <a:prstGeom prst="rect">
            <a:avLst/>
          </a:prstGeom>
        </p:spPr>
      </p:pic>
      <p:pic>
        <p:nvPicPr>
          <p:cNvPr id="25" name="Image 24"/>
          <p:cNvPicPr>
            <a:picLocks noChangeAspect="1"/>
          </p:cNvPicPr>
          <p:nvPr/>
        </p:nvPicPr>
        <p:blipFill>
          <a:blip r:embed="rId6"/>
          <a:srcRect l="17909" r="34681"/>
          <a:stretch/>
        </p:blipFill>
        <p:spPr bwMode="auto">
          <a:xfrm>
            <a:off x="3321197" y="3790815"/>
            <a:ext cx="1045104" cy="2004218"/>
          </a:xfrm>
          <a:prstGeom prst="rect">
            <a:avLst/>
          </a:prstGeom>
        </p:spPr>
      </p:pic>
      <p:sp>
        <p:nvSpPr>
          <p:cNvPr id="26" name="Rectangle 25"/>
          <p:cNvSpPr/>
          <p:nvPr/>
        </p:nvSpPr>
        <p:spPr bwMode="auto">
          <a:xfrm>
            <a:off x="10068072" y="2996406"/>
            <a:ext cx="1871926" cy="365795"/>
          </a:xfrm>
          <a:prstGeom prst="rect">
            <a:avLst/>
          </a:prstGeom>
          <a:noFill/>
        </p:spPr>
        <p:txBody>
          <a:bodyPr vertOverflow="overflow" horzOverflow="clip" vert="horz" wrap="square" lIns="91440" tIns="45720" rIns="91440" bIns="45720" numCol="1" spcCol="0" rtlCol="0" fromWordArt="0" anchor="t" anchorCtr="0" forceAA="0" compatLnSpc="0">
            <a:spAutoFit/>
          </a:bodyPr>
          <a:lstStyle/>
          <a:p>
            <a:pPr>
              <a:defRPr/>
            </a:pPr>
            <a:endParaRPr/>
          </a:p>
        </p:txBody>
      </p:sp>
      <p:graphicFrame>
        <p:nvGraphicFramePr>
          <p:cNvPr id="27" name="Tableau 26"/>
          <p:cNvGraphicFramePr>
            <a:graphicFrameLocks/>
          </p:cNvGraphicFramePr>
          <p:nvPr/>
        </p:nvGraphicFramePr>
        <p:xfrm>
          <a:off x="9657508" y="3139877"/>
          <a:ext cx="2577260" cy="548640"/>
        </p:xfrm>
        <a:graphic>
          <a:graphicData uri="http://schemas.openxmlformats.org/drawingml/2006/table">
            <a:tbl>
              <a:tblPr firstRow="1" firstCol="1" bandRow="1"/>
              <a:tblGrid>
                <a:gridCol w="25400">
                  <a:extLst>
                    <a:ext uri="{9D8B030D-6E8A-4147-A177-3AD203B41FA5}">
                      <a16:colId xmlns:a16="http://schemas.microsoft.com/office/drawing/2014/main" val="20000"/>
                    </a:ext>
                  </a:extLst>
                </a:gridCol>
                <a:gridCol w="2551860">
                  <a:extLst>
                    <a:ext uri="{9D8B030D-6E8A-4147-A177-3AD203B41FA5}">
                      <a16:colId xmlns:a16="http://schemas.microsoft.com/office/drawing/2014/main" val="20001"/>
                    </a:ext>
                  </a:extLst>
                </a:gridCol>
              </a:tblGrid>
              <a:tr h="352351">
                <a:tc>
                  <a:txBody>
                    <a:bodyPr/>
                    <a:lstStyle/>
                    <a:p>
                      <a:pPr>
                        <a:defRPr/>
                      </a:pPr>
                      <a:br>
                        <a:rPr/>
                      </a:br>
                      <a:endParaRPr/>
                    </a:p>
                  </a:txBody>
                  <a:tcPr marL="0" marR="0" marT="0" marB="0" anchor="ctr">
                    <a:lnL algn="ctr">
                      <a:noFill/>
                    </a:lnL>
                    <a:lnR algn="ctr">
                      <a:noFill/>
                    </a:lnR>
                    <a:lnT algn="ctr">
                      <a:noFill/>
                    </a:lnT>
                    <a:lnB algn="ctr">
                      <a:noFill/>
                    </a:lnB>
                  </a:tcPr>
                </a:tc>
                <a:tc>
                  <a:txBody>
                    <a:bodyPr/>
                    <a:lstStyle/>
                    <a:p>
                      <a:pPr>
                        <a:defRPr/>
                      </a:pPr>
                      <a:r>
                        <a:rPr sz="1200" b="0" i="1" u="none" dirty="0">
                          <a:solidFill>
                            <a:srgbClr val="0000FF"/>
                          </a:solidFill>
                          <a:latin typeface="Times New Roman"/>
                          <a:ea typeface="Times New Roman"/>
                          <a:cs typeface="Times New Roman"/>
                        </a:rPr>
                        <a:t>"2021-05-07T09:50:00.000Z":"16.79 </a:t>
                      </a:r>
                    </a:p>
                  </a:txBody>
                  <a:tcPr marL="0" marR="0" marT="0" marB="0" anchor="ctr">
                    <a:lnL algn="ctr">
                      <a:noFill/>
                    </a:lnL>
                    <a:lnR algn="ctr">
                      <a:noFill/>
                    </a:lnR>
                    <a:lnT algn="ctr">
                      <a:noFill/>
                    </a:lnT>
                    <a:lnB algn="ctr">
                      <a:noFill/>
                    </a:lnB>
                  </a:tcPr>
                </a:tc>
                <a:extLst>
                  <a:ext uri="{0D108BD9-81ED-4DB2-BD59-A6C34878D82A}">
                    <a16:rowId xmlns:a16="http://schemas.microsoft.com/office/drawing/2014/main" val="10000"/>
                  </a:ext>
                </a:extLst>
              </a:tr>
            </a:tbl>
          </a:graphicData>
        </a:graphic>
      </p:graphicFrame>
      <p:sp>
        <p:nvSpPr>
          <p:cNvPr id="28" name="Rectangle 27"/>
          <p:cNvSpPr/>
          <p:nvPr/>
        </p:nvSpPr>
        <p:spPr bwMode="auto">
          <a:xfrm>
            <a:off x="4390716" y="2499764"/>
            <a:ext cx="2935939" cy="378039"/>
          </a:xfrm>
          <a:prstGeom prst="rect">
            <a:avLst/>
          </a:prstGeom>
          <a:noFill/>
        </p:spPr>
        <p:txBody>
          <a:bodyPr vertOverflow="overflow" horzOverflow="clip" vert="horz" wrap="square" lIns="91440" tIns="45720" rIns="91440" bIns="45720" numCol="1" spcCol="0" rtlCol="0" fromWordArt="0" anchor="t" anchorCtr="0" forceAA="0" compatLnSpc="0">
            <a:noAutofit/>
          </a:bodyPr>
          <a:lstStyle/>
          <a:p>
            <a:pPr>
              <a:defRPr/>
            </a:pPr>
            <a:r>
              <a:rPr sz="1600" dirty="0">
                <a:solidFill>
                  <a:schemeClr val="accent6">
                    <a:lumMod val="75000"/>
                  </a:schemeClr>
                </a:solidFill>
              </a:rPr>
              <a:t>Sensor type</a:t>
            </a:r>
            <a:r>
              <a:rPr lang="fr-FR" sz="1600" dirty="0">
                <a:solidFill>
                  <a:schemeClr val="accent6">
                    <a:lumMod val="75000"/>
                  </a:schemeClr>
                </a:solidFill>
              </a:rPr>
              <a:t> </a:t>
            </a:r>
            <a:r>
              <a:rPr sz="1600" dirty="0">
                <a:solidFill>
                  <a:schemeClr val="accent6">
                    <a:lumMod val="75000"/>
                  </a:schemeClr>
                </a:solidFill>
              </a:rPr>
              <a:t>= </a:t>
            </a:r>
            <a:r>
              <a:rPr lang="fr-FR" sz="1600" dirty="0">
                <a:solidFill>
                  <a:schemeClr val="accent6">
                    <a:lumMod val="75000"/>
                  </a:schemeClr>
                </a:solidFill>
              </a:rPr>
              <a:t>Pluviomètre </a:t>
            </a:r>
            <a:endParaRPr sz="1600" dirty="0">
              <a:solidFill>
                <a:schemeClr val="accent6">
                  <a:lumMod val="75000"/>
                </a:schemeClr>
              </a:solidFill>
            </a:endParaRPr>
          </a:p>
        </p:txBody>
      </p:sp>
      <p:sp>
        <p:nvSpPr>
          <p:cNvPr id="29" name="Rectangle 28"/>
          <p:cNvSpPr/>
          <p:nvPr/>
        </p:nvSpPr>
        <p:spPr bwMode="auto">
          <a:xfrm>
            <a:off x="6269934" y="4911830"/>
            <a:ext cx="3640344" cy="458985"/>
          </a:xfrm>
          <a:prstGeom prst="rect">
            <a:avLst/>
          </a:prstGeom>
          <a:noFill/>
        </p:spPr>
        <p:txBody>
          <a:bodyPr vertOverflow="overflow" horzOverflow="clip" vert="horz" wrap="square" lIns="91440" tIns="45720" rIns="91440" bIns="45720" numCol="1" spcCol="0" rtlCol="0" fromWordArt="0" anchor="t" anchorCtr="0" forceAA="0" compatLnSpc="0">
            <a:noAutofit/>
          </a:bodyPr>
          <a:lstStyle/>
          <a:p>
            <a:pPr>
              <a:defRPr/>
            </a:pPr>
            <a:r>
              <a:rPr lang="fr-FR" sz="1600" dirty="0">
                <a:solidFill>
                  <a:schemeClr val="accent6">
                    <a:lumMod val="75000"/>
                  </a:schemeClr>
                </a:solidFill>
              </a:rPr>
              <a:t>séries chronologiques des précipitations </a:t>
            </a:r>
            <a:endParaRPr dirty="0"/>
          </a:p>
        </p:txBody>
      </p:sp>
      <p:sp>
        <p:nvSpPr>
          <p:cNvPr id="30" name="Rectangle 29"/>
          <p:cNvSpPr/>
          <p:nvPr/>
        </p:nvSpPr>
        <p:spPr bwMode="auto">
          <a:xfrm>
            <a:off x="8908743" y="2401093"/>
            <a:ext cx="2457531" cy="458984"/>
          </a:xfrm>
          <a:prstGeom prst="rect">
            <a:avLst/>
          </a:prstGeom>
          <a:noFill/>
        </p:spPr>
        <p:txBody>
          <a:bodyPr vertOverflow="overflow" horzOverflow="clip" vert="horz" wrap="square" lIns="91440" tIns="45720" rIns="91440" bIns="45720" numCol="1" spcCol="0" rtlCol="0" fromWordArt="0" anchor="t" anchorCtr="0" forceAA="0" compatLnSpc="0">
            <a:noAutofit/>
          </a:bodyPr>
          <a:lstStyle/>
          <a:p>
            <a:pPr>
              <a:defRPr/>
            </a:pPr>
            <a:r>
              <a:rPr lang="fr-FR" sz="1600" dirty="0">
                <a:solidFill>
                  <a:schemeClr val="accent6">
                    <a:lumMod val="75000"/>
                  </a:schemeClr>
                </a:solidFill>
              </a:rPr>
              <a:t>quantité de précipitations</a:t>
            </a:r>
            <a:endParaRPr dirty="0"/>
          </a:p>
        </p:txBody>
      </p:sp>
      <p:sp>
        <p:nvSpPr>
          <p:cNvPr id="31" name="Rectangle 30"/>
          <p:cNvSpPr/>
          <p:nvPr/>
        </p:nvSpPr>
        <p:spPr bwMode="auto">
          <a:xfrm>
            <a:off x="7973226" y="6563822"/>
            <a:ext cx="3825336" cy="327167"/>
          </a:xfrm>
          <a:prstGeom prst="rect">
            <a:avLst/>
          </a:prstGeom>
          <a:noFill/>
        </p:spPr>
        <p:txBody>
          <a:bodyPr vertOverflow="overflow" horzOverflow="clip" vert="horz" wrap="square" lIns="91440" tIns="45720" rIns="91440" bIns="45720" numCol="1" spcCol="0" rtlCol="0" fromWordArt="0" anchor="t" anchorCtr="0" forceAA="0" compatLnSpc="0">
            <a:noAutofit/>
          </a:bodyPr>
          <a:lstStyle/>
          <a:p>
            <a:pPr>
              <a:defRPr/>
            </a:pPr>
            <a:r>
              <a:rPr lang="fr-FR" sz="1600" dirty="0">
                <a:solidFill>
                  <a:schemeClr val="accent6">
                    <a:lumMod val="75000"/>
                  </a:schemeClr>
                </a:solidFill>
              </a:rPr>
              <a:t>Zone représentative autour de la station </a:t>
            </a:r>
            <a:endParaRPr sz="1600" dirty="0">
              <a:solidFill>
                <a:schemeClr val="accent6">
                  <a:lumMod val="75000"/>
                </a:schemeClr>
              </a:solidFill>
            </a:endParaRPr>
          </a:p>
        </p:txBody>
      </p:sp>
      <p:sp>
        <p:nvSpPr>
          <p:cNvPr id="32" name="Rectangle 31"/>
          <p:cNvSpPr/>
          <p:nvPr/>
        </p:nvSpPr>
        <p:spPr bwMode="auto">
          <a:xfrm>
            <a:off x="2580863" y="3292944"/>
            <a:ext cx="4064933" cy="357066"/>
          </a:xfrm>
          <a:prstGeom prst="rect">
            <a:avLst/>
          </a:prstGeom>
          <a:noFill/>
        </p:spPr>
        <p:txBody>
          <a:bodyPr vertOverflow="overflow" horzOverflow="clip" vert="horz" wrap="square" lIns="91440" tIns="45720" rIns="91440" bIns="45720" numCol="1" spcCol="0" rtlCol="0" fromWordArt="0" anchor="t" anchorCtr="0" forceAA="0" compatLnSpc="0">
            <a:noAutofit/>
          </a:bodyPr>
          <a:lstStyle/>
          <a:p>
            <a:pPr>
              <a:defRPr/>
            </a:pPr>
            <a:r>
              <a:rPr lang="fr-FR" sz="1600" dirty="0" err="1">
                <a:solidFill>
                  <a:schemeClr val="accent6">
                    <a:lumMod val="75000"/>
                  </a:schemeClr>
                </a:solidFill>
              </a:rPr>
              <a:t>Sensor</a:t>
            </a:r>
            <a:r>
              <a:rPr lang="fr-FR" sz="1600" dirty="0">
                <a:solidFill>
                  <a:schemeClr val="accent6">
                    <a:lumMod val="75000"/>
                  </a:schemeClr>
                </a:solidFill>
              </a:rPr>
              <a:t> </a:t>
            </a:r>
            <a:r>
              <a:rPr lang="fr-FR" sz="1600" dirty="0" err="1">
                <a:solidFill>
                  <a:schemeClr val="accent6">
                    <a:lumMod val="75000"/>
                  </a:schemeClr>
                </a:solidFill>
              </a:rPr>
              <a:t>intance</a:t>
            </a:r>
            <a:r>
              <a:rPr lang="fr-FR" sz="1600" dirty="0">
                <a:solidFill>
                  <a:schemeClr val="accent6">
                    <a:lumMod val="75000"/>
                  </a:schemeClr>
                </a:solidFill>
              </a:rPr>
              <a:t> </a:t>
            </a:r>
            <a:r>
              <a:rPr sz="1600" dirty="0">
                <a:solidFill>
                  <a:schemeClr val="accent6">
                    <a:lumMod val="75000"/>
                  </a:schemeClr>
                </a:solidFill>
              </a:rPr>
              <a:t>= </a:t>
            </a:r>
            <a:r>
              <a:rPr lang="fr-FR" sz="1600" dirty="0">
                <a:solidFill>
                  <a:schemeClr val="accent6">
                    <a:lumMod val="75000"/>
                  </a:schemeClr>
                </a:solidFill>
              </a:rPr>
              <a:t>Station </a:t>
            </a:r>
            <a:r>
              <a:rPr sz="1600" dirty="0" err="1">
                <a:solidFill>
                  <a:schemeClr val="accent6">
                    <a:lumMod val="75000"/>
                  </a:schemeClr>
                </a:solidFill>
              </a:rPr>
              <a:t>meteo</a:t>
            </a:r>
            <a:r>
              <a:rPr sz="1600" dirty="0">
                <a:solidFill>
                  <a:schemeClr val="accent6">
                    <a:lumMod val="75000"/>
                  </a:schemeClr>
                </a:solidFill>
              </a:rPr>
              <a:t> </a:t>
            </a:r>
            <a:r>
              <a:rPr lang="fr-FR" sz="1600" dirty="0">
                <a:solidFill>
                  <a:schemeClr val="accent6">
                    <a:lumMod val="75000"/>
                  </a:schemeClr>
                </a:solidFill>
              </a:rPr>
              <a:t>de Rennes</a:t>
            </a:r>
            <a:endParaRPr lang="fr-FR" sz="1800" b="0" i="0" u="none" strike="noStrike" cap="none" spc="0" dirty="0">
              <a:solidFill>
                <a:schemeClr val="accent1"/>
              </a:solidFill>
              <a:latin typeface="+mn-lt"/>
              <a:ea typeface="+mn-lt"/>
              <a:cs typeface="+mn-lt"/>
            </a:endParaRPr>
          </a:p>
        </p:txBody>
      </p:sp>
    </p:spTree>
    <p:extLst>
      <p:ext uri="{BB962C8B-B14F-4D97-AF65-F5344CB8AC3E}">
        <p14:creationId xmlns:p14="http://schemas.microsoft.com/office/powerpoint/2010/main" val="2617170087"/>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nvPicPr>
        <p:blipFill>
          <a:blip r:embed="rId2"/>
          <a:stretch/>
        </p:blipFill>
        <p:spPr bwMode="auto">
          <a:xfrm>
            <a:off x="9580003" y="4934457"/>
            <a:ext cx="1508802" cy="1721152"/>
          </a:xfrm>
          <a:prstGeom prst="rect">
            <a:avLst/>
          </a:prstGeom>
        </p:spPr>
      </p:pic>
      <p:pic>
        <p:nvPicPr>
          <p:cNvPr id="8" name="Image 7"/>
          <p:cNvPicPr>
            <a:picLocks noChangeAspect="1"/>
          </p:cNvPicPr>
          <p:nvPr/>
        </p:nvPicPr>
        <p:blipFill>
          <a:blip r:embed="rId3"/>
          <a:stretch/>
        </p:blipFill>
        <p:spPr bwMode="auto">
          <a:xfrm>
            <a:off x="6347440" y="3688517"/>
            <a:ext cx="3232562" cy="1252617"/>
          </a:xfrm>
          <a:prstGeom prst="rect">
            <a:avLst/>
          </a:prstGeom>
        </p:spPr>
      </p:pic>
      <p:sp>
        <p:nvSpPr>
          <p:cNvPr id="10" name="Объект 2"/>
          <p:cNvSpPr txBox="1">
            <a:spLocks/>
          </p:cNvSpPr>
          <p:nvPr/>
        </p:nvSpPr>
        <p:spPr bwMode="auto">
          <a:xfrm>
            <a:off x="609599" y="1600201"/>
            <a:ext cx="10972800" cy="45259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dirty="0" err="1"/>
              <a:t>En</a:t>
            </a:r>
            <a:r>
              <a:rPr lang="en-US" dirty="0"/>
              <a:t> </a:t>
            </a:r>
            <a:r>
              <a:rPr lang="en-US" dirty="0" err="1"/>
              <a:t>terme</a:t>
            </a:r>
            <a:r>
              <a:rPr lang="en-US" dirty="0"/>
              <a:t> du standard</a:t>
            </a:r>
          </a:p>
        </p:txBody>
      </p:sp>
      <p:cxnSp>
        <p:nvCxnSpPr>
          <p:cNvPr id="11" name="Connecteur droit 10"/>
          <p:cNvCxnSpPr>
            <a:cxnSpLocks/>
            <a:stCxn id="16" idx="2"/>
            <a:endCxn id="12" idx="1"/>
          </p:cNvCxnSpPr>
          <p:nvPr/>
        </p:nvCxnSpPr>
        <p:spPr bwMode="auto">
          <a:xfrm rot="5399943" flipV="1">
            <a:off x="6125124" y="1601786"/>
            <a:ext cx="1068471" cy="2878749"/>
          </a:xfrm>
          <a:prstGeom prst="line">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cxnSp>
        <p:nvCxnSpPr>
          <p:cNvPr id="12" name="Connecteur droit 11"/>
          <p:cNvCxnSpPr>
            <a:cxnSpLocks/>
          </p:cNvCxnSpPr>
          <p:nvPr/>
        </p:nvCxnSpPr>
        <p:spPr bwMode="auto">
          <a:xfrm rot="5399943" flipV="1">
            <a:off x="7511583" y="2988245"/>
            <a:ext cx="1174303" cy="0"/>
          </a:xfrm>
          <a:prstGeom prst="line">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cxnSp>
        <p:nvCxnSpPr>
          <p:cNvPr id="13" name="Connecteur droit 12"/>
          <p:cNvCxnSpPr>
            <a:cxnSpLocks/>
          </p:cNvCxnSpPr>
          <p:nvPr/>
        </p:nvCxnSpPr>
        <p:spPr bwMode="auto">
          <a:xfrm flipV="1">
            <a:off x="8892128" y="3956397"/>
            <a:ext cx="1375748" cy="0"/>
          </a:xfrm>
          <a:prstGeom prst="line">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cxnSp>
        <p:nvCxnSpPr>
          <p:cNvPr id="14" name="Connecteur droit 13"/>
          <p:cNvCxnSpPr>
            <a:cxnSpLocks/>
          </p:cNvCxnSpPr>
          <p:nvPr/>
        </p:nvCxnSpPr>
        <p:spPr bwMode="auto">
          <a:xfrm rot="5399943" flipV="1">
            <a:off x="10685918" y="4459550"/>
            <a:ext cx="666748" cy="0"/>
          </a:xfrm>
          <a:prstGeom prst="line">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cxnSp>
        <p:nvCxnSpPr>
          <p:cNvPr id="15" name="Connecteur en angle 14"/>
          <p:cNvCxnSpPr>
            <a:cxnSpLocks/>
            <a:stCxn id="17" idx="1"/>
          </p:cNvCxnSpPr>
          <p:nvPr/>
        </p:nvCxnSpPr>
        <p:spPr bwMode="auto">
          <a:xfrm rot="10799956" flipV="1">
            <a:off x="5219987" y="3956397"/>
            <a:ext cx="2180247" cy="540279"/>
          </a:xfrm>
          <a:prstGeom prst="bentConnector3">
            <a:avLst>
              <a:gd name="adj1" fmla="val 99999"/>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sp>
        <p:nvSpPr>
          <p:cNvPr id="16" name="Rectangle 15"/>
          <p:cNvSpPr/>
          <p:nvPr/>
        </p:nvSpPr>
        <p:spPr bwMode="auto">
          <a:xfrm>
            <a:off x="4468568" y="1744925"/>
            <a:ext cx="1502832" cy="761998"/>
          </a:xfrm>
          <a:prstGeom prst="rect">
            <a:avLst/>
          </a:prstGeom>
          <a:solidFill>
            <a:schemeClr val="bg1"/>
          </a:solidFill>
          <a:ln w="28575" cap="flat" cmpd="sng" algn="ctr">
            <a:solidFill>
              <a:schemeClr val="accent3"/>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clip" vert="horz" wrap="square" lIns="91440" tIns="45720" rIns="91440" bIns="45720" numCol="1" spcCol="0" rtlCol="0" fromWordArt="0" anchor="ctr" anchorCtr="0" forceAA="0" compatLnSpc="0"/>
          <a:lstStyle/>
          <a:p>
            <a:pPr algn="ctr">
              <a:defRPr/>
            </a:pPr>
            <a:r>
              <a:rPr>
                <a:solidFill>
                  <a:schemeClr val="tx1"/>
                </a:solidFill>
              </a:rPr>
              <a:t>Sensor</a:t>
            </a:r>
          </a:p>
        </p:txBody>
      </p:sp>
      <p:sp>
        <p:nvSpPr>
          <p:cNvPr id="17" name="Rectangle 16"/>
          <p:cNvSpPr/>
          <p:nvPr/>
        </p:nvSpPr>
        <p:spPr bwMode="auto">
          <a:xfrm>
            <a:off x="7400236" y="3575397"/>
            <a:ext cx="1502832" cy="761998"/>
          </a:xfrm>
          <a:prstGeom prst="rect">
            <a:avLst/>
          </a:prstGeom>
          <a:solidFill>
            <a:schemeClr val="bg1"/>
          </a:solidFill>
          <a:ln w="38099" cap="flat" cmpd="sng" algn="ctr">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clip" vert="horz" wrap="square" lIns="91440" tIns="45720" rIns="91440" bIns="45720" numCol="1" spcCol="0" rtlCol="0" fromWordArt="0" anchor="ctr" anchorCtr="0" forceAA="0" compatLnSpc="0"/>
          <a:lstStyle/>
          <a:p>
            <a:pPr algn="ctr">
              <a:defRPr/>
            </a:pPr>
            <a:r>
              <a:rPr>
                <a:solidFill>
                  <a:schemeClr val="tx1"/>
                </a:solidFill>
              </a:rPr>
              <a:t>DataStream</a:t>
            </a:r>
          </a:p>
        </p:txBody>
      </p:sp>
      <p:sp>
        <p:nvSpPr>
          <p:cNvPr id="18" name="Rectangle 17"/>
          <p:cNvSpPr/>
          <p:nvPr/>
        </p:nvSpPr>
        <p:spPr bwMode="auto">
          <a:xfrm>
            <a:off x="10278818" y="3575397"/>
            <a:ext cx="1502832" cy="761998"/>
          </a:xfrm>
          <a:prstGeom prst="rect">
            <a:avLst/>
          </a:prstGeom>
          <a:solidFill>
            <a:schemeClr val="bg1"/>
          </a:solidFill>
          <a:ln w="38099" cap="flat" cmpd="sng" algn="ctr">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clip" vert="horz" wrap="square" lIns="91440" tIns="45720" rIns="91440" bIns="45720" numCol="1" spcCol="0" rtlCol="0" fromWordArt="0" anchor="ctr" anchorCtr="0" forceAA="0" compatLnSpc="0"/>
          <a:lstStyle/>
          <a:p>
            <a:pPr>
              <a:defRPr/>
            </a:pPr>
            <a:r>
              <a:rPr>
                <a:solidFill>
                  <a:schemeClr val="tx1"/>
                </a:solidFill>
              </a:rPr>
              <a:t>Observation</a:t>
            </a:r>
          </a:p>
        </p:txBody>
      </p:sp>
      <p:sp>
        <p:nvSpPr>
          <p:cNvPr id="19" name="Rectangle 18"/>
          <p:cNvSpPr/>
          <p:nvPr/>
        </p:nvSpPr>
        <p:spPr bwMode="auto">
          <a:xfrm>
            <a:off x="4447444" y="4496678"/>
            <a:ext cx="1502832" cy="444415"/>
          </a:xfrm>
          <a:prstGeom prst="rect">
            <a:avLst/>
          </a:prstGeom>
          <a:solidFill>
            <a:schemeClr val="bg1"/>
          </a:solidFill>
          <a:ln w="38099" cap="flat" cmpd="sng" algn="ctr">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clip" vert="horz" wrap="square" lIns="91440" tIns="45720" rIns="91440" bIns="45720" numCol="1" spcCol="0" rtlCol="0" fromWordArt="0" anchor="ctr" anchorCtr="0" forceAA="0" compatLnSpc="0"/>
          <a:lstStyle/>
          <a:p>
            <a:pPr algn="ctr">
              <a:defRPr/>
            </a:pPr>
            <a:r>
              <a:rPr lang="fr-FR" sz="1800" b="0" i="0" u="none" strike="noStrike" cap="none" spc="0">
                <a:solidFill>
                  <a:schemeClr val="tx1"/>
                </a:solidFill>
                <a:latin typeface="+mn-lt"/>
                <a:ea typeface="+mn-ea"/>
                <a:cs typeface="+mn-cs"/>
              </a:rPr>
              <a:t>Thing</a:t>
            </a:r>
            <a:endParaRPr>
              <a:solidFill>
                <a:schemeClr val="tx1"/>
              </a:solidFill>
            </a:endParaRPr>
          </a:p>
        </p:txBody>
      </p:sp>
      <p:pic>
        <p:nvPicPr>
          <p:cNvPr id="20" name="Image 19"/>
          <p:cNvPicPr>
            <a:picLocks noChangeAspect="1"/>
          </p:cNvPicPr>
          <p:nvPr/>
        </p:nvPicPr>
        <p:blipFill>
          <a:blip r:embed="rId4"/>
          <a:srcRect l="25649" r="25498"/>
          <a:stretch/>
        </p:blipFill>
        <p:spPr bwMode="auto">
          <a:xfrm>
            <a:off x="6004474" y="1402026"/>
            <a:ext cx="568854" cy="1164431"/>
          </a:xfrm>
          <a:prstGeom prst="rect">
            <a:avLst/>
          </a:prstGeom>
        </p:spPr>
      </p:pic>
      <p:pic>
        <p:nvPicPr>
          <p:cNvPr id="21" name="Image 20"/>
          <p:cNvPicPr>
            <a:picLocks noChangeAspect="1"/>
          </p:cNvPicPr>
          <p:nvPr/>
        </p:nvPicPr>
        <p:blipFill>
          <a:blip r:embed="rId5"/>
          <a:stretch/>
        </p:blipFill>
        <p:spPr bwMode="auto">
          <a:xfrm>
            <a:off x="8962516" y="1505657"/>
            <a:ext cx="1389982" cy="926655"/>
          </a:xfrm>
          <a:prstGeom prst="rect">
            <a:avLst/>
          </a:prstGeom>
        </p:spPr>
      </p:pic>
      <p:pic>
        <p:nvPicPr>
          <p:cNvPr id="22" name="Image 21"/>
          <p:cNvPicPr>
            <a:picLocks noChangeAspect="1"/>
          </p:cNvPicPr>
          <p:nvPr/>
        </p:nvPicPr>
        <p:blipFill>
          <a:blip r:embed="rId6"/>
          <a:srcRect l="17909" r="34681"/>
          <a:stretch/>
        </p:blipFill>
        <p:spPr bwMode="auto">
          <a:xfrm>
            <a:off x="3321197" y="3790815"/>
            <a:ext cx="1045104" cy="2004218"/>
          </a:xfrm>
          <a:prstGeom prst="rect">
            <a:avLst/>
          </a:prstGeom>
        </p:spPr>
      </p:pic>
      <p:sp>
        <p:nvSpPr>
          <p:cNvPr id="23" name="Rectangle 22"/>
          <p:cNvSpPr/>
          <p:nvPr/>
        </p:nvSpPr>
        <p:spPr bwMode="auto">
          <a:xfrm>
            <a:off x="10068072" y="2996406"/>
            <a:ext cx="1871926" cy="365795"/>
          </a:xfrm>
          <a:prstGeom prst="rect">
            <a:avLst/>
          </a:prstGeom>
          <a:noFill/>
        </p:spPr>
        <p:txBody>
          <a:bodyPr vertOverflow="overflow" horzOverflow="clip" vert="horz" wrap="square" lIns="91440" tIns="45720" rIns="91440" bIns="45720" numCol="1" spcCol="0" rtlCol="0" fromWordArt="0" anchor="t" anchorCtr="0" forceAA="0" compatLnSpc="0">
            <a:spAutoFit/>
          </a:bodyPr>
          <a:lstStyle/>
          <a:p>
            <a:pPr>
              <a:defRPr/>
            </a:pPr>
            <a:endParaRPr/>
          </a:p>
        </p:txBody>
      </p:sp>
      <p:graphicFrame>
        <p:nvGraphicFramePr>
          <p:cNvPr id="24" name="Tableau 23"/>
          <p:cNvGraphicFramePr>
            <a:graphicFrameLocks/>
          </p:cNvGraphicFramePr>
          <p:nvPr/>
        </p:nvGraphicFramePr>
        <p:xfrm>
          <a:off x="9657508" y="3139877"/>
          <a:ext cx="2577260" cy="548640"/>
        </p:xfrm>
        <a:graphic>
          <a:graphicData uri="http://schemas.openxmlformats.org/drawingml/2006/table">
            <a:tbl>
              <a:tblPr firstRow="1" firstCol="1" bandRow="1"/>
              <a:tblGrid>
                <a:gridCol w="25400">
                  <a:extLst>
                    <a:ext uri="{9D8B030D-6E8A-4147-A177-3AD203B41FA5}">
                      <a16:colId xmlns:a16="http://schemas.microsoft.com/office/drawing/2014/main" val="20000"/>
                    </a:ext>
                  </a:extLst>
                </a:gridCol>
                <a:gridCol w="2551860">
                  <a:extLst>
                    <a:ext uri="{9D8B030D-6E8A-4147-A177-3AD203B41FA5}">
                      <a16:colId xmlns:a16="http://schemas.microsoft.com/office/drawing/2014/main" val="20001"/>
                    </a:ext>
                  </a:extLst>
                </a:gridCol>
              </a:tblGrid>
              <a:tr h="352351">
                <a:tc>
                  <a:txBody>
                    <a:bodyPr/>
                    <a:lstStyle/>
                    <a:p>
                      <a:pPr>
                        <a:defRPr/>
                      </a:pPr>
                      <a:br>
                        <a:rPr/>
                      </a:br>
                      <a:endParaRPr/>
                    </a:p>
                  </a:txBody>
                  <a:tcPr marL="0" marR="0" marT="0" marB="0" anchor="ctr">
                    <a:lnL algn="ctr">
                      <a:noFill/>
                    </a:lnL>
                    <a:lnR algn="ctr">
                      <a:noFill/>
                    </a:lnR>
                    <a:lnT algn="ctr">
                      <a:noFill/>
                    </a:lnT>
                    <a:lnB algn="ctr">
                      <a:noFill/>
                    </a:lnB>
                  </a:tcPr>
                </a:tc>
                <a:tc>
                  <a:txBody>
                    <a:bodyPr/>
                    <a:lstStyle/>
                    <a:p>
                      <a:pPr>
                        <a:defRPr/>
                      </a:pPr>
                      <a:r>
                        <a:rPr sz="1200" b="0" i="1" u="none" dirty="0">
                          <a:solidFill>
                            <a:srgbClr val="0000FF"/>
                          </a:solidFill>
                          <a:latin typeface="Times New Roman"/>
                          <a:ea typeface="Times New Roman"/>
                          <a:cs typeface="Times New Roman"/>
                        </a:rPr>
                        <a:t>"2021-05-07T09:50:00.000Z":"16.79 </a:t>
                      </a:r>
                    </a:p>
                  </a:txBody>
                  <a:tcPr marL="0" marR="0" marT="0" marB="0" anchor="ctr">
                    <a:lnL algn="ctr">
                      <a:noFill/>
                    </a:lnL>
                    <a:lnR algn="ctr">
                      <a:noFill/>
                    </a:lnR>
                    <a:lnT algn="ctr">
                      <a:noFill/>
                    </a:lnT>
                    <a:lnB algn="ctr">
                      <a:noFill/>
                    </a:lnB>
                  </a:tcPr>
                </a:tc>
                <a:extLst>
                  <a:ext uri="{0D108BD9-81ED-4DB2-BD59-A6C34878D82A}">
                    <a16:rowId xmlns:a16="http://schemas.microsoft.com/office/drawing/2014/main" val="10000"/>
                  </a:ext>
                </a:extLst>
              </a:tr>
            </a:tbl>
          </a:graphicData>
        </a:graphic>
      </p:graphicFrame>
      <p:sp>
        <p:nvSpPr>
          <p:cNvPr id="25" name="Rectangle 24"/>
          <p:cNvSpPr/>
          <p:nvPr/>
        </p:nvSpPr>
        <p:spPr bwMode="auto">
          <a:xfrm>
            <a:off x="8077170" y="5277198"/>
            <a:ext cx="1502831" cy="444414"/>
          </a:xfrm>
          <a:prstGeom prst="rect">
            <a:avLst/>
          </a:prstGeom>
          <a:solidFill>
            <a:schemeClr val="bg1"/>
          </a:solidFill>
          <a:ln w="38099" cap="flat" cmpd="sng" algn="ctr">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clip" vert="horz" wrap="square" lIns="91440" tIns="45720" rIns="91440" bIns="45720" numCol="1" spcCol="0" rtlCol="0" fromWordArt="0" anchor="ctr" anchorCtr="0" forceAA="0" compatLnSpc="0"/>
          <a:lstStyle/>
          <a:p>
            <a:pPr algn="ctr">
              <a:defRPr/>
            </a:pPr>
            <a:r>
              <a:rPr lang="fr-FR" sz="1800" b="0" i="0" u="none" strike="noStrike" cap="none" spc="0">
                <a:solidFill>
                  <a:schemeClr val="tx1"/>
                </a:solidFill>
                <a:latin typeface="+mn-lt"/>
                <a:ea typeface="+mn-ea"/>
                <a:cs typeface="+mn-cs"/>
              </a:rPr>
              <a:t>Location</a:t>
            </a:r>
            <a:endParaRPr>
              <a:solidFill>
                <a:schemeClr val="tx1"/>
              </a:solidFill>
            </a:endParaRPr>
          </a:p>
        </p:txBody>
      </p:sp>
      <p:sp>
        <p:nvSpPr>
          <p:cNvPr id="26" name="Rectangle 25"/>
          <p:cNvSpPr/>
          <p:nvPr/>
        </p:nvSpPr>
        <p:spPr bwMode="auto">
          <a:xfrm>
            <a:off x="4917737" y="5795033"/>
            <a:ext cx="2107327" cy="444414"/>
          </a:xfrm>
          <a:prstGeom prst="rect">
            <a:avLst/>
          </a:prstGeom>
          <a:solidFill>
            <a:schemeClr val="bg1"/>
          </a:solidFill>
          <a:ln w="38099" cap="flat" cmpd="sng" algn="ctr">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clip" vert="horz" wrap="square" lIns="91440" tIns="45720" rIns="91440" bIns="45720" numCol="1" spcCol="0" rtlCol="0" fromWordArt="0" anchor="ctr" anchorCtr="0" forceAA="0" compatLnSpc="0"/>
          <a:lstStyle/>
          <a:p>
            <a:pPr algn="ctr">
              <a:defRPr/>
            </a:pPr>
            <a:r>
              <a:rPr lang="fr-FR" sz="1800" b="0" i="0" u="none" strike="noStrike" cap="none" spc="0">
                <a:solidFill>
                  <a:schemeClr val="tx1"/>
                </a:solidFill>
                <a:latin typeface="+mn-lt"/>
                <a:ea typeface="+mn-ea"/>
                <a:cs typeface="+mn-cs"/>
              </a:rPr>
              <a:t>HistoricalLocation</a:t>
            </a:r>
            <a:endParaRPr>
              <a:solidFill>
                <a:schemeClr val="tx1"/>
              </a:solidFill>
            </a:endParaRPr>
          </a:p>
        </p:txBody>
      </p:sp>
      <p:cxnSp>
        <p:nvCxnSpPr>
          <p:cNvPr id="27" name="Connecteur droit 26"/>
          <p:cNvCxnSpPr>
            <a:cxnSpLocks/>
            <a:stCxn id="19" idx="2"/>
            <a:endCxn id="26" idx="0"/>
          </p:cNvCxnSpPr>
          <p:nvPr/>
        </p:nvCxnSpPr>
        <p:spPr bwMode="auto">
          <a:xfrm rot="5399978" flipV="1">
            <a:off x="5158161" y="4981793"/>
            <a:ext cx="853940" cy="772540"/>
          </a:xfrm>
          <a:prstGeom prst="line">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cxnSp>
        <p:nvCxnSpPr>
          <p:cNvPr id="28" name="Connecteur droit 27"/>
          <p:cNvCxnSpPr>
            <a:cxnSpLocks/>
            <a:endCxn id="25" idx="1"/>
          </p:cNvCxnSpPr>
          <p:nvPr/>
        </p:nvCxnSpPr>
        <p:spPr bwMode="auto">
          <a:xfrm>
            <a:off x="5193726" y="4944399"/>
            <a:ext cx="2883444" cy="555006"/>
          </a:xfrm>
          <a:prstGeom prst="line">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cxnSp>
        <p:nvCxnSpPr>
          <p:cNvPr id="29" name="Connecteur droit 28"/>
          <p:cNvCxnSpPr>
            <a:cxnSpLocks/>
            <a:stCxn id="27" idx="1"/>
          </p:cNvCxnSpPr>
          <p:nvPr/>
        </p:nvCxnSpPr>
        <p:spPr bwMode="auto">
          <a:xfrm flipV="1">
            <a:off x="5971401" y="5499405"/>
            <a:ext cx="2105769" cy="295628"/>
          </a:xfrm>
          <a:prstGeom prst="line">
            <a:avLst/>
          </a:prstGeom>
          <a:ln w="9525" cap="flat" cmpd="sng" algn="ctr">
            <a:solidFill>
              <a:schemeClr val="tx1"/>
            </a:solidFill>
            <a:prstDash val="solid"/>
          </a:ln>
        </p:spPr>
        <p:style>
          <a:lnRef idx="1">
            <a:schemeClr val="accent1">
              <a:shade val="50000"/>
            </a:schemeClr>
          </a:lnRef>
          <a:fillRef idx="0">
            <a:schemeClr val="accent1"/>
          </a:fillRef>
          <a:effectRef idx="0">
            <a:schemeClr val="accent1"/>
          </a:effectRef>
          <a:fontRef idx="minor">
            <a:schemeClr val="tx1"/>
          </a:fontRef>
        </p:style>
      </p:cxnSp>
      <p:sp>
        <p:nvSpPr>
          <p:cNvPr id="32" name="Rectangle 31"/>
          <p:cNvSpPr/>
          <p:nvPr/>
        </p:nvSpPr>
        <p:spPr bwMode="auto">
          <a:xfrm>
            <a:off x="10267877" y="4814133"/>
            <a:ext cx="1502832" cy="761998"/>
          </a:xfrm>
          <a:prstGeom prst="rect">
            <a:avLst/>
          </a:prstGeom>
          <a:solidFill>
            <a:schemeClr val="bg1"/>
          </a:solidFill>
          <a:ln w="38099" cap="flat" cmpd="sng" algn="ctr">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dirty="0">
                <a:solidFill>
                  <a:schemeClr val="tx1"/>
                </a:solidFill>
              </a:rPr>
              <a:t>Feature</a:t>
            </a:r>
          </a:p>
          <a:p>
            <a:pPr algn="ctr">
              <a:defRPr/>
            </a:pPr>
            <a:r>
              <a:rPr dirty="0">
                <a:solidFill>
                  <a:schemeClr val="tx1"/>
                </a:solidFill>
              </a:rPr>
              <a:t>of interest</a:t>
            </a:r>
          </a:p>
        </p:txBody>
      </p:sp>
      <p:sp>
        <p:nvSpPr>
          <p:cNvPr id="33" name="Rectangle 32"/>
          <p:cNvSpPr/>
          <p:nvPr/>
        </p:nvSpPr>
        <p:spPr bwMode="auto">
          <a:xfrm>
            <a:off x="7400235" y="1670314"/>
            <a:ext cx="1502832" cy="761998"/>
          </a:xfrm>
          <a:prstGeom prst="rect">
            <a:avLst/>
          </a:prstGeom>
          <a:solidFill>
            <a:schemeClr val="bg1"/>
          </a:solidFill>
          <a:ln w="38099" cap="flat" cmpd="sng" algn="ctr">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clip" vert="horz" wrap="square" lIns="91440" tIns="45720" rIns="91440" bIns="45720" numCol="1" spcCol="0" rtlCol="0" fromWordArt="0" anchor="ctr" anchorCtr="0" forceAA="0" compatLnSpc="0"/>
          <a:lstStyle/>
          <a:p>
            <a:pPr algn="ctr"/>
            <a:r>
              <a:rPr>
                <a:solidFill>
                  <a:schemeClr val="tx1"/>
                </a:solidFill>
              </a:rPr>
              <a:t>Observed</a:t>
            </a:r>
          </a:p>
          <a:p>
            <a:pPr algn="ctr"/>
            <a:r>
              <a:rPr>
                <a:solidFill>
                  <a:schemeClr val="tx1"/>
                </a:solidFill>
              </a:rPr>
              <a:t>property</a:t>
            </a:r>
          </a:p>
        </p:txBody>
      </p:sp>
      <p:sp>
        <p:nvSpPr>
          <p:cNvPr id="38" name="Rectangle 37"/>
          <p:cNvSpPr/>
          <p:nvPr/>
        </p:nvSpPr>
        <p:spPr bwMode="auto">
          <a:xfrm>
            <a:off x="4390716" y="2499764"/>
            <a:ext cx="2935939" cy="378039"/>
          </a:xfrm>
          <a:prstGeom prst="rect">
            <a:avLst/>
          </a:prstGeom>
          <a:noFill/>
        </p:spPr>
        <p:txBody>
          <a:bodyPr vertOverflow="overflow" horzOverflow="clip" vert="horz" wrap="square" lIns="91440" tIns="45720" rIns="91440" bIns="45720" numCol="1" spcCol="0" rtlCol="0" fromWordArt="0" anchor="t" anchorCtr="0" forceAA="0" compatLnSpc="0">
            <a:noAutofit/>
          </a:bodyPr>
          <a:lstStyle/>
          <a:p>
            <a:pPr>
              <a:defRPr/>
            </a:pPr>
            <a:r>
              <a:rPr sz="1600" dirty="0">
                <a:solidFill>
                  <a:schemeClr val="accent6">
                    <a:lumMod val="75000"/>
                  </a:schemeClr>
                </a:solidFill>
              </a:rPr>
              <a:t>Sensor type</a:t>
            </a:r>
            <a:r>
              <a:rPr lang="fr-FR" sz="1600" dirty="0">
                <a:solidFill>
                  <a:schemeClr val="accent6">
                    <a:lumMod val="75000"/>
                  </a:schemeClr>
                </a:solidFill>
              </a:rPr>
              <a:t> </a:t>
            </a:r>
            <a:r>
              <a:rPr sz="1600" dirty="0">
                <a:solidFill>
                  <a:schemeClr val="accent6">
                    <a:lumMod val="75000"/>
                  </a:schemeClr>
                </a:solidFill>
              </a:rPr>
              <a:t>= </a:t>
            </a:r>
            <a:r>
              <a:rPr lang="fr-FR" sz="1600" dirty="0">
                <a:solidFill>
                  <a:schemeClr val="accent6">
                    <a:lumMod val="75000"/>
                  </a:schemeClr>
                </a:solidFill>
              </a:rPr>
              <a:t>Pluviomètre </a:t>
            </a:r>
            <a:endParaRPr sz="1600" dirty="0">
              <a:solidFill>
                <a:schemeClr val="accent6">
                  <a:lumMod val="75000"/>
                </a:schemeClr>
              </a:solidFill>
            </a:endParaRPr>
          </a:p>
        </p:txBody>
      </p:sp>
      <p:sp>
        <p:nvSpPr>
          <p:cNvPr id="39" name="Rectangle 38"/>
          <p:cNvSpPr/>
          <p:nvPr/>
        </p:nvSpPr>
        <p:spPr bwMode="auto">
          <a:xfrm>
            <a:off x="6269934" y="4911830"/>
            <a:ext cx="3640344" cy="458985"/>
          </a:xfrm>
          <a:prstGeom prst="rect">
            <a:avLst/>
          </a:prstGeom>
          <a:noFill/>
        </p:spPr>
        <p:txBody>
          <a:bodyPr vertOverflow="overflow" horzOverflow="clip" vert="horz" wrap="square" lIns="91440" tIns="45720" rIns="91440" bIns="45720" numCol="1" spcCol="0" rtlCol="0" fromWordArt="0" anchor="t" anchorCtr="0" forceAA="0" compatLnSpc="0">
            <a:noAutofit/>
          </a:bodyPr>
          <a:lstStyle/>
          <a:p>
            <a:pPr>
              <a:defRPr/>
            </a:pPr>
            <a:r>
              <a:rPr lang="fr-FR" sz="1600" dirty="0">
                <a:solidFill>
                  <a:schemeClr val="accent6">
                    <a:lumMod val="75000"/>
                  </a:schemeClr>
                </a:solidFill>
              </a:rPr>
              <a:t>séries chronologiques des précipitations </a:t>
            </a:r>
            <a:endParaRPr dirty="0"/>
          </a:p>
        </p:txBody>
      </p:sp>
      <p:sp>
        <p:nvSpPr>
          <p:cNvPr id="40" name="Rectangle 39"/>
          <p:cNvSpPr/>
          <p:nvPr/>
        </p:nvSpPr>
        <p:spPr bwMode="auto">
          <a:xfrm>
            <a:off x="8908743" y="2401093"/>
            <a:ext cx="2457531" cy="458984"/>
          </a:xfrm>
          <a:prstGeom prst="rect">
            <a:avLst/>
          </a:prstGeom>
          <a:noFill/>
        </p:spPr>
        <p:txBody>
          <a:bodyPr vertOverflow="overflow" horzOverflow="clip" vert="horz" wrap="square" lIns="91440" tIns="45720" rIns="91440" bIns="45720" numCol="1" spcCol="0" rtlCol="0" fromWordArt="0" anchor="t" anchorCtr="0" forceAA="0" compatLnSpc="0">
            <a:noAutofit/>
          </a:bodyPr>
          <a:lstStyle/>
          <a:p>
            <a:pPr>
              <a:defRPr/>
            </a:pPr>
            <a:r>
              <a:rPr lang="fr-FR" sz="1600" dirty="0">
                <a:solidFill>
                  <a:schemeClr val="accent6">
                    <a:lumMod val="75000"/>
                  </a:schemeClr>
                </a:solidFill>
              </a:rPr>
              <a:t>quantité de précipitations</a:t>
            </a:r>
            <a:endParaRPr dirty="0"/>
          </a:p>
        </p:txBody>
      </p:sp>
      <p:sp>
        <p:nvSpPr>
          <p:cNvPr id="41" name="Rectangle 40"/>
          <p:cNvSpPr/>
          <p:nvPr/>
        </p:nvSpPr>
        <p:spPr bwMode="auto">
          <a:xfrm>
            <a:off x="7973226" y="6563822"/>
            <a:ext cx="3825336" cy="327167"/>
          </a:xfrm>
          <a:prstGeom prst="rect">
            <a:avLst/>
          </a:prstGeom>
          <a:noFill/>
        </p:spPr>
        <p:txBody>
          <a:bodyPr vertOverflow="overflow" horzOverflow="clip" vert="horz" wrap="square" lIns="91440" tIns="45720" rIns="91440" bIns="45720" numCol="1" spcCol="0" rtlCol="0" fromWordArt="0" anchor="t" anchorCtr="0" forceAA="0" compatLnSpc="0">
            <a:noAutofit/>
          </a:bodyPr>
          <a:lstStyle/>
          <a:p>
            <a:pPr>
              <a:defRPr/>
            </a:pPr>
            <a:r>
              <a:rPr lang="fr-FR" sz="1600" dirty="0">
                <a:solidFill>
                  <a:schemeClr val="accent6">
                    <a:lumMod val="75000"/>
                  </a:schemeClr>
                </a:solidFill>
              </a:rPr>
              <a:t>Zone représentative autour de la station </a:t>
            </a:r>
            <a:endParaRPr sz="1600" dirty="0">
              <a:solidFill>
                <a:schemeClr val="accent6">
                  <a:lumMod val="75000"/>
                </a:schemeClr>
              </a:solidFill>
            </a:endParaRPr>
          </a:p>
        </p:txBody>
      </p:sp>
      <p:sp>
        <p:nvSpPr>
          <p:cNvPr id="42" name="Rectangle 41"/>
          <p:cNvSpPr/>
          <p:nvPr/>
        </p:nvSpPr>
        <p:spPr bwMode="auto">
          <a:xfrm>
            <a:off x="2580863" y="3292944"/>
            <a:ext cx="4064933" cy="357066"/>
          </a:xfrm>
          <a:prstGeom prst="rect">
            <a:avLst/>
          </a:prstGeom>
          <a:noFill/>
        </p:spPr>
        <p:txBody>
          <a:bodyPr vertOverflow="overflow" horzOverflow="clip" vert="horz" wrap="square" lIns="91440" tIns="45720" rIns="91440" bIns="45720" numCol="1" spcCol="0" rtlCol="0" fromWordArt="0" anchor="t" anchorCtr="0" forceAA="0" compatLnSpc="0">
            <a:noAutofit/>
          </a:bodyPr>
          <a:lstStyle/>
          <a:p>
            <a:pPr>
              <a:defRPr/>
            </a:pPr>
            <a:r>
              <a:rPr lang="fr-FR" sz="1600" dirty="0" err="1">
                <a:solidFill>
                  <a:schemeClr val="accent6">
                    <a:lumMod val="75000"/>
                  </a:schemeClr>
                </a:solidFill>
              </a:rPr>
              <a:t>Sensor</a:t>
            </a:r>
            <a:r>
              <a:rPr lang="fr-FR" sz="1600" dirty="0">
                <a:solidFill>
                  <a:schemeClr val="accent6">
                    <a:lumMod val="75000"/>
                  </a:schemeClr>
                </a:solidFill>
              </a:rPr>
              <a:t> </a:t>
            </a:r>
            <a:r>
              <a:rPr lang="fr-FR" sz="1600" dirty="0" err="1">
                <a:solidFill>
                  <a:schemeClr val="accent6">
                    <a:lumMod val="75000"/>
                  </a:schemeClr>
                </a:solidFill>
              </a:rPr>
              <a:t>intance</a:t>
            </a:r>
            <a:r>
              <a:rPr lang="fr-FR" sz="1600" dirty="0">
                <a:solidFill>
                  <a:schemeClr val="accent6">
                    <a:lumMod val="75000"/>
                  </a:schemeClr>
                </a:solidFill>
              </a:rPr>
              <a:t> </a:t>
            </a:r>
            <a:r>
              <a:rPr sz="1600" dirty="0">
                <a:solidFill>
                  <a:schemeClr val="accent6">
                    <a:lumMod val="75000"/>
                  </a:schemeClr>
                </a:solidFill>
              </a:rPr>
              <a:t>= </a:t>
            </a:r>
            <a:r>
              <a:rPr lang="fr-FR" sz="1600" dirty="0">
                <a:solidFill>
                  <a:schemeClr val="accent6">
                    <a:lumMod val="75000"/>
                  </a:schemeClr>
                </a:solidFill>
              </a:rPr>
              <a:t>Station </a:t>
            </a:r>
            <a:r>
              <a:rPr sz="1600" dirty="0" err="1">
                <a:solidFill>
                  <a:schemeClr val="accent6">
                    <a:lumMod val="75000"/>
                  </a:schemeClr>
                </a:solidFill>
              </a:rPr>
              <a:t>meteo</a:t>
            </a:r>
            <a:r>
              <a:rPr sz="1600" dirty="0">
                <a:solidFill>
                  <a:schemeClr val="accent6">
                    <a:lumMod val="75000"/>
                  </a:schemeClr>
                </a:solidFill>
              </a:rPr>
              <a:t> </a:t>
            </a:r>
            <a:r>
              <a:rPr lang="fr-FR" sz="1600" dirty="0">
                <a:solidFill>
                  <a:schemeClr val="accent6">
                    <a:lumMod val="75000"/>
                  </a:schemeClr>
                </a:solidFill>
              </a:rPr>
              <a:t>de Rennes</a:t>
            </a:r>
            <a:endParaRPr lang="fr-FR" sz="1800" b="0" i="0" u="none" strike="noStrike" cap="none" spc="0" dirty="0">
              <a:solidFill>
                <a:schemeClr val="accent1"/>
              </a:solidFill>
              <a:latin typeface="+mn-lt"/>
              <a:ea typeface="+mn-lt"/>
              <a:cs typeface="+mn-lt"/>
            </a:endParaRPr>
          </a:p>
        </p:txBody>
      </p:sp>
      <p:sp>
        <p:nvSpPr>
          <p:cNvPr id="43" name="Заголовок 1"/>
          <p:cNvSpPr txBox="1">
            <a:spLocks/>
          </p:cNvSpPr>
          <p:nvPr/>
        </p:nvSpPr>
        <p:spPr bwMode="auto">
          <a:xfrm>
            <a:off x="609599" y="274638"/>
            <a:ext cx="10972800"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fr-FR" dirty="0"/>
              <a:t>Utilisation de l’API </a:t>
            </a:r>
            <a:r>
              <a:rPr lang="fr-FR" dirty="0" err="1"/>
              <a:t>SensorThings</a:t>
            </a:r>
            <a:endParaRPr lang="fr-FR" dirty="0"/>
          </a:p>
        </p:txBody>
      </p:sp>
    </p:spTree>
    <p:extLst>
      <p:ext uri="{BB962C8B-B14F-4D97-AF65-F5344CB8AC3E}">
        <p14:creationId xmlns:p14="http://schemas.microsoft.com/office/powerpoint/2010/main" val="568800113"/>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04823C5-AAD3-4FB3-A25D-C238181A022C}"/>
              </a:ext>
            </a:extLst>
          </p:cNvPr>
          <p:cNvSpPr/>
          <p:nvPr/>
        </p:nvSpPr>
        <p:spPr>
          <a:xfrm>
            <a:off x="550505" y="443584"/>
            <a:ext cx="10851503" cy="6059853"/>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19">
            <a:extLst>
              <a:ext uri="{FF2B5EF4-FFF2-40B4-BE49-F238E27FC236}">
                <a16:creationId xmlns:a16="http://schemas.microsoft.com/office/drawing/2014/main" id="{79426DEA-E145-4CB5-A124-03449CFBB3D2}"/>
              </a:ext>
            </a:extLst>
          </p:cNvPr>
          <p:cNvSpPr/>
          <p:nvPr/>
        </p:nvSpPr>
        <p:spPr>
          <a:xfrm>
            <a:off x="99149" y="74252"/>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20">
            <a:extLst>
              <a:ext uri="{FF2B5EF4-FFF2-40B4-BE49-F238E27FC236}">
                <a16:creationId xmlns:a16="http://schemas.microsoft.com/office/drawing/2014/main" id="{D5DFB5B5-FA64-4BEE-B753-0656AB389907}"/>
              </a:ext>
            </a:extLst>
          </p:cNvPr>
          <p:cNvSpPr txBox="1"/>
          <p:nvPr/>
        </p:nvSpPr>
        <p:spPr>
          <a:xfrm>
            <a:off x="99149" y="74252"/>
            <a:ext cx="5597769" cy="369332"/>
          </a:xfrm>
          <a:prstGeom prst="rect">
            <a:avLst/>
          </a:prstGeom>
          <a:noFill/>
        </p:spPr>
        <p:txBody>
          <a:bodyPr wrap="square" rtlCol="0">
            <a:spAutoFit/>
          </a:bodyPr>
          <a:lstStyle/>
          <a:p>
            <a:pPr algn="ctr"/>
            <a:r>
              <a:rPr lang="fr-FR" altLang="ko-KR" b="1" dirty="0" err="1">
                <a:solidFill>
                  <a:schemeClr val="bg1"/>
                </a:solidFill>
                <a:cs typeface="Arial" pitchFamily="34" charset="0"/>
              </a:rPr>
              <a:t>Things</a:t>
            </a:r>
            <a:endParaRPr lang="ko-KR" altLang="en-US" b="1" dirty="0">
              <a:solidFill>
                <a:schemeClr val="bg1"/>
              </a:solidFill>
              <a:cs typeface="Arial" pitchFamily="34" charset="0"/>
            </a:endParaRPr>
          </a:p>
        </p:txBody>
      </p:sp>
      <p:pic>
        <p:nvPicPr>
          <p:cNvPr id="4" name="Image 3"/>
          <p:cNvPicPr>
            <a:picLocks noChangeAspect="1"/>
          </p:cNvPicPr>
          <p:nvPr/>
        </p:nvPicPr>
        <p:blipFill>
          <a:blip r:embed="rId2"/>
          <a:stretch>
            <a:fillRect/>
          </a:stretch>
        </p:blipFill>
        <p:spPr>
          <a:xfrm>
            <a:off x="940698" y="812916"/>
            <a:ext cx="10048875" cy="5324475"/>
          </a:xfrm>
          <a:prstGeom prst="rect">
            <a:avLst/>
          </a:prstGeom>
        </p:spPr>
      </p:pic>
    </p:spTree>
    <p:extLst>
      <p:ext uri="{BB962C8B-B14F-4D97-AF65-F5344CB8AC3E}">
        <p14:creationId xmlns:p14="http://schemas.microsoft.com/office/powerpoint/2010/main" val="405914770"/>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04823C5-AAD3-4FB3-A25D-C238181A022C}"/>
              </a:ext>
            </a:extLst>
          </p:cNvPr>
          <p:cNvSpPr/>
          <p:nvPr/>
        </p:nvSpPr>
        <p:spPr>
          <a:xfrm>
            <a:off x="550506" y="443584"/>
            <a:ext cx="10217022" cy="6339771"/>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19">
            <a:extLst>
              <a:ext uri="{FF2B5EF4-FFF2-40B4-BE49-F238E27FC236}">
                <a16:creationId xmlns:a16="http://schemas.microsoft.com/office/drawing/2014/main" id="{79426DEA-E145-4CB5-A124-03449CFBB3D2}"/>
              </a:ext>
            </a:extLst>
          </p:cNvPr>
          <p:cNvSpPr/>
          <p:nvPr/>
        </p:nvSpPr>
        <p:spPr>
          <a:xfrm>
            <a:off x="99149" y="74252"/>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20">
            <a:extLst>
              <a:ext uri="{FF2B5EF4-FFF2-40B4-BE49-F238E27FC236}">
                <a16:creationId xmlns:a16="http://schemas.microsoft.com/office/drawing/2014/main" id="{D5DFB5B5-FA64-4BEE-B753-0656AB389907}"/>
              </a:ext>
            </a:extLst>
          </p:cNvPr>
          <p:cNvSpPr txBox="1"/>
          <p:nvPr/>
        </p:nvSpPr>
        <p:spPr>
          <a:xfrm>
            <a:off x="99149" y="74252"/>
            <a:ext cx="5597769" cy="369332"/>
          </a:xfrm>
          <a:prstGeom prst="rect">
            <a:avLst/>
          </a:prstGeom>
          <a:noFill/>
        </p:spPr>
        <p:txBody>
          <a:bodyPr wrap="square" rtlCol="0">
            <a:spAutoFit/>
          </a:bodyPr>
          <a:lstStyle/>
          <a:p>
            <a:pPr algn="ctr"/>
            <a:r>
              <a:rPr lang="fr-FR" altLang="ko-KR" b="1" dirty="0">
                <a:solidFill>
                  <a:schemeClr val="bg1"/>
                </a:solidFill>
                <a:cs typeface="Arial" pitchFamily="34" charset="0"/>
              </a:rPr>
              <a:t>Locations</a:t>
            </a:r>
            <a:endParaRPr lang="ko-KR" altLang="en-US" b="1" dirty="0">
              <a:solidFill>
                <a:schemeClr val="bg1"/>
              </a:solidFill>
              <a:cs typeface="Arial" pitchFamily="34" charset="0"/>
            </a:endParaRPr>
          </a:p>
        </p:txBody>
      </p:sp>
      <p:pic>
        <p:nvPicPr>
          <p:cNvPr id="14" name="Image 13"/>
          <p:cNvPicPr>
            <a:picLocks noChangeAspect="1"/>
          </p:cNvPicPr>
          <p:nvPr/>
        </p:nvPicPr>
        <p:blipFill>
          <a:blip r:embed="rId2"/>
          <a:stretch>
            <a:fillRect/>
          </a:stretch>
        </p:blipFill>
        <p:spPr>
          <a:xfrm>
            <a:off x="905843" y="3772483"/>
            <a:ext cx="9610725" cy="2914650"/>
          </a:xfrm>
          <a:prstGeom prst="rect">
            <a:avLst/>
          </a:prstGeom>
        </p:spPr>
      </p:pic>
      <p:pic>
        <p:nvPicPr>
          <p:cNvPr id="15" name="Image 14"/>
          <p:cNvPicPr>
            <a:picLocks noChangeAspect="1"/>
          </p:cNvPicPr>
          <p:nvPr/>
        </p:nvPicPr>
        <p:blipFill>
          <a:blip r:embed="rId3"/>
          <a:stretch>
            <a:fillRect/>
          </a:stretch>
        </p:blipFill>
        <p:spPr>
          <a:xfrm>
            <a:off x="891555" y="697324"/>
            <a:ext cx="9610725" cy="2914650"/>
          </a:xfrm>
          <a:prstGeom prst="rect">
            <a:avLst/>
          </a:prstGeom>
        </p:spPr>
      </p:pic>
    </p:spTree>
    <p:extLst>
      <p:ext uri="{BB962C8B-B14F-4D97-AF65-F5344CB8AC3E}">
        <p14:creationId xmlns:p14="http://schemas.microsoft.com/office/powerpoint/2010/main" val="296818249"/>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04823C5-AAD3-4FB3-A25D-C238181A022C}"/>
              </a:ext>
            </a:extLst>
          </p:cNvPr>
          <p:cNvSpPr/>
          <p:nvPr/>
        </p:nvSpPr>
        <p:spPr>
          <a:xfrm>
            <a:off x="550506" y="443584"/>
            <a:ext cx="10217022" cy="5117461"/>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19">
            <a:extLst>
              <a:ext uri="{FF2B5EF4-FFF2-40B4-BE49-F238E27FC236}">
                <a16:creationId xmlns:a16="http://schemas.microsoft.com/office/drawing/2014/main" id="{79426DEA-E145-4CB5-A124-03449CFBB3D2}"/>
              </a:ext>
            </a:extLst>
          </p:cNvPr>
          <p:cNvSpPr/>
          <p:nvPr/>
        </p:nvSpPr>
        <p:spPr>
          <a:xfrm>
            <a:off x="99149" y="74252"/>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20">
            <a:extLst>
              <a:ext uri="{FF2B5EF4-FFF2-40B4-BE49-F238E27FC236}">
                <a16:creationId xmlns:a16="http://schemas.microsoft.com/office/drawing/2014/main" id="{D5DFB5B5-FA64-4BEE-B753-0656AB389907}"/>
              </a:ext>
            </a:extLst>
          </p:cNvPr>
          <p:cNvSpPr txBox="1"/>
          <p:nvPr/>
        </p:nvSpPr>
        <p:spPr>
          <a:xfrm>
            <a:off x="99149" y="74252"/>
            <a:ext cx="5597769" cy="369332"/>
          </a:xfrm>
          <a:prstGeom prst="rect">
            <a:avLst/>
          </a:prstGeom>
          <a:noFill/>
        </p:spPr>
        <p:txBody>
          <a:bodyPr wrap="square" rtlCol="0">
            <a:spAutoFit/>
          </a:bodyPr>
          <a:lstStyle/>
          <a:p>
            <a:pPr algn="ctr"/>
            <a:r>
              <a:rPr lang="fr-FR" altLang="ko-KR" b="1" dirty="0" err="1">
                <a:solidFill>
                  <a:schemeClr val="bg1"/>
                </a:solidFill>
                <a:cs typeface="Arial" pitchFamily="34" charset="0"/>
              </a:rPr>
              <a:t>Observed</a:t>
            </a:r>
            <a:r>
              <a:rPr lang="fr-FR" altLang="ko-KR" b="1" dirty="0">
                <a:solidFill>
                  <a:schemeClr val="bg1"/>
                </a:solidFill>
                <a:cs typeface="Arial" pitchFamily="34" charset="0"/>
              </a:rPr>
              <a:t> </a:t>
            </a:r>
            <a:r>
              <a:rPr lang="fr-FR" altLang="ko-KR" b="1" dirty="0" err="1">
                <a:solidFill>
                  <a:schemeClr val="bg1"/>
                </a:solidFill>
                <a:cs typeface="Arial" pitchFamily="34" charset="0"/>
              </a:rPr>
              <a:t>properties</a:t>
            </a:r>
            <a:endParaRPr lang="ko-KR" altLang="en-US" b="1" dirty="0">
              <a:solidFill>
                <a:schemeClr val="bg1"/>
              </a:solidFill>
              <a:cs typeface="Arial" pitchFamily="34" charset="0"/>
            </a:endParaRPr>
          </a:p>
        </p:txBody>
      </p:sp>
      <p:pic>
        <p:nvPicPr>
          <p:cNvPr id="8" name="Image 7"/>
          <p:cNvPicPr>
            <a:picLocks noChangeAspect="1"/>
          </p:cNvPicPr>
          <p:nvPr/>
        </p:nvPicPr>
        <p:blipFill>
          <a:blip r:embed="rId2"/>
          <a:stretch>
            <a:fillRect/>
          </a:stretch>
        </p:blipFill>
        <p:spPr>
          <a:xfrm>
            <a:off x="674817" y="871246"/>
            <a:ext cx="9610725" cy="1943100"/>
          </a:xfrm>
          <a:prstGeom prst="rect">
            <a:avLst/>
          </a:prstGeom>
        </p:spPr>
      </p:pic>
      <p:pic>
        <p:nvPicPr>
          <p:cNvPr id="14" name="Image 13"/>
          <p:cNvPicPr>
            <a:picLocks noChangeAspect="1"/>
          </p:cNvPicPr>
          <p:nvPr/>
        </p:nvPicPr>
        <p:blipFill>
          <a:blip r:embed="rId3"/>
          <a:stretch>
            <a:fillRect/>
          </a:stretch>
        </p:blipFill>
        <p:spPr>
          <a:xfrm>
            <a:off x="674817" y="3340844"/>
            <a:ext cx="9829800" cy="1781175"/>
          </a:xfrm>
          <a:prstGeom prst="rect">
            <a:avLst/>
          </a:prstGeom>
        </p:spPr>
      </p:pic>
    </p:spTree>
    <p:extLst>
      <p:ext uri="{BB962C8B-B14F-4D97-AF65-F5344CB8AC3E}">
        <p14:creationId xmlns:p14="http://schemas.microsoft.com/office/powerpoint/2010/main" val="137744495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04823C5-AAD3-4FB3-A25D-C238181A022C}"/>
              </a:ext>
            </a:extLst>
          </p:cNvPr>
          <p:cNvSpPr/>
          <p:nvPr/>
        </p:nvSpPr>
        <p:spPr>
          <a:xfrm>
            <a:off x="550506" y="443584"/>
            <a:ext cx="10189030" cy="6171820"/>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19">
            <a:extLst>
              <a:ext uri="{FF2B5EF4-FFF2-40B4-BE49-F238E27FC236}">
                <a16:creationId xmlns:a16="http://schemas.microsoft.com/office/drawing/2014/main" id="{79426DEA-E145-4CB5-A124-03449CFBB3D2}"/>
              </a:ext>
            </a:extLst>
          </p:cNvPr>
          <p:cNvSpPr/>
          <p:nvPr/>
        </p:nvSpPr>
        <p:spPr>
          <a:xfrm>
            <a:off x="99149" y="74252"/>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20">
            <a:extLst>
              <a:ext uri="{FF2B5EF4-FFF2-40B4-BE49-F238E27FC236}">
                <a16:creationId xmlns:a16="http://schemas.microsoft.com/office/drawing/2014/main" id="{D5DFB5B5-FA64-4BEE-B753-0656AB389907}"/>
              </a:ext>
            </a:extLst>
          </p:cNvPr>
          <p:cNvSpPr txBox="1"/>
          <p:nvPr/>
        </p:nvSpPr>
        <p:spPr>
          <a:xfrm>
            <a:off x="99149" y="74252"/>
            <a:ext cx="5597769" cy="369332"/>
          </a:xfrm>
          <a:prstGeom prst="rect">
            <a:avLst/>
          </a:prstGeom>
          <a:noFill/>
        </p:spPr>
        <p:txBody>
          <a:bodyPr wrap="square" rtlCol="0">
            <a:spAutoFit/>
          </a:bodyPr>
          <a:lstStyle/>
          <a:p>
            <a:pPr algn="ctr"/>
            <a:r>
              <a:rPr lang="fr-FR" altLang="ko-KR" b="1" dirty="0" err="1">
                <a:solidFill>
                  <a:schemeClr val="bg1"/>
                </a:solidFill>
                <a:cs typeface="Arial" pitchFamily="34" charset="0"/>
              </a:rPr>
              <a:t>Sensor</a:t>
            </a:r>
            <a:endParaRPr lang="ko-KR" altLang="en-US" b="1" dirty="0">
              <a:solidFill>
                <a:schemeClr val="bg1"/>
              </a:solidFill>
              <a:cs typeface="Arial" pitchFamily="34" charset="0"/>
            </a:endParaRPr>
          </a:p>
        </p:txBody>
      </p:sp>
      <p:pic>
        <p:nvPicPr>
          <p:cNvPr id="3" name="Image 2"/>
          <p:cNvPicPr>
            <a:picLocks noChangeAspect="1"/>
          </p:cNvPicPr>
          <p:nvPr/>
        </p:nvPicPr>
        <p:blipFill>
          <a:blip r:embed="rId2"/>
          <a:stretch>
            <a:fillRect/>
          </a:stretch>
        </p:blipFill>
        <p:spPr>
          <a:xfrm>
            <a:off x="758791" y="1038906"/>
            <a:ext cx="9610725" cy="2428875"/>
          </a:xfrm>
          <a:prstGeom prst="rect">
            <a:avLst/>
          </a:prstGeom>
        </p:spPr>
      </p:pic>
      <p:pic>
        <p:nvPicPr>
          <p:cNvPr id="7" name="Image 6"/>
          <p:cNvPicPr>
            <a:picLocks noChangeAspect="1"/>
          </p:cNvPicPr>
          <p:nvPr/>
        </p:nvPicPr>
        <p:blipFill>
          <a:blip r:embed="rId3"/>
          <a:stretch>
            <a:fillRect/>
          </a:stretch>
        </p:blipFill>
        <p:spPr>
          <a:xfrm>
            <a:off x="758792" y="3838089"/>
            <a:ext cx="9610725" cy="2428875"/>
          </a:xfrm>
          <a:prstGeom prst="rect">
            <a:avLst/>
          </a:prstGeom>
        </p:spPr>
      </p:pic>
    </p:spTree>
    <p:extLst>
      <p:ext uri="{BB962C8B-B14F-4D97-AF65-F5344CB8AC3E}">
        <p14:creationId xmlns:p14="http://schemas.microsoft.com/office/powerpoint/2010/main" val="2894301367"/>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04823C5-AAD3-4FB3-A25D-C238181A022C}"/>
              </a:ext>
            </a:extLst>
          </p:cNvPr>
          <p:cNvSpPr/>
          <p:nvPr/>
        </p:nvSpPr>
        <p:spPr>
          <a:xfrm>
            <a:off x="550505" y="443584"/>
            <a:ext cx="10842173" cy="4137747"/>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19">
            <a:extLst>
              <a:ext uri="{FF2B5EF4-FFF2-40B4-BE49-F238E27FC236}">
                <a16:creationId xmlns:a16="http://schemas.microsoft.com/office/drawing/2014/main" id="{79426DEA-E145-4CB5-A124-03449CFBB3D2}"/>
              </a:ext>
            </a:extLst>
          </p:cNvPr>
          <p:cNvSpPr/>
          <p:nvPr/>
        </p:nvSpPr>
        <p:spPr>
          <a:xfrm>
            <a:off x="99149" y="74252"/>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20">
            <a:extLst>
              <a:ext uri="{FF2B5EF4-FFF2-40B4-BE49-F238E27FC236}">
                <a16:creationId xmlns:a16="http://schemas.microsoft.com/office/drawing/2014/main" id="{D5DFB5B5-FA64-4BEE-B753-0656AB389907}"/>
              </a:ext>
            </a:extLst>
          </p:cNvPr>
          <p:cNvSpPr txBox="1"/>
          <p:nvPr/>
        </p:nvSpPr>
        <p:spPr>
          <a:xfrm>
            <a:off x="99149" y="74252"/>
            <a:ext cx="5597769" cy="369332"/>
          </a:xfrm>
          <a:prstGeom prst="rect">
            <a:avLst/>
          </a:prstGeom>
          <a:noFill/>
        </p:spPr>
        <p:txBody>
          <a:bodyPr wrap="square" rtlCol="0">
            <a:spAutoFit/>
          </a:bodyPr>
          <a:lstStyle/>
          <a:p>
            <a:pPr algn="ctr"/>
            <a:r>
              <a:rPr lang="fr-FR" altLang="ko-KR" b="1" dirty="0" err="1">
                <a:solidFill>
                  <a:schemeClr val="bg1"/>
                </a:solidFill>
                <a:cs typeface="Arial" pitchFamily="34" charset="0"/>
              </a:rPr>
              <a:t>Datastream</a:t>
            </a:r>
            <a:endParaRPr lang="ko-KR" altLang="en-US" b="1" dirty="0">
              <a:solidFill>
                <a:schemeClr val="bg1"/>
              </a:solidFill>
              <a:cs typeface="Arial" pitchFamily="34" charset="0"/>
            </a:endParaRPr>
          </a:p>
        </p:txBody>
      </p:sp>
      <p:pic>
        <p:nvPicPr>
          <p:cNvPr id="2" name="Image 1"/>
          <p:cNvPicPr>
            <a:picLocks noChangeAspect="1"/>
          </p:cNvPicPr>
          <p:nvPr/>
        </p:nvPicPr>
        <p:blipFill>
          <a:blip r:embed="rId2"/>
          <a:stretch>
            <a:fillRect/>
          </a:stretch>
        </p:blipFill>
        <p:spPr>
          <a:xfrm>
            <a:off x="764486" y="767733"/>
            <a:ext cx="10401300" cy="3400425"/>
          </a:xfrm>
          <a:prstGeom prst="rect">
            <a:avLst/>
          </a:prstGeom>
        </p:spPr>
      </p:pic>
    </p:spTree>
    <p:extLst>
      <p:ext uri="{BB962C8B-B14F-4D97-AF65-F5344CB8AC3E}">
        <p14:creationId xmlns:p14="http://schemas.microsoft.com/office/powerpoint/2010/main" val="3194215502"/>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04823C5-AAD3-4FB3-A25D-C238181A022C}"/>
              </a:ext>
            </a:extLst>
          </p:cNvPr>
          <p:cNvSpPr/>
          <p:nvPr/>
        </p:nvSpPr>
        <p:spPr>
          <a:xfrm>
            <a:off x="550505" y="443585"/>
            <a:ext cx="11262050" cy="4865534"/>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19">
            <a:extLst>
              <a:ext uri="{FF2B5EF4-FFF2-40B4-BE49-F238E27FC236}">
                <a16:creationId xmlns:a16="http://schemas.microsoft.com/office/drawing/2014/main" id="{79426DEA-E145-4CB5-A124-03449CFBB3D2}"/>
              </a:ext>
            </a:extLst>
          </p:cNvPr>
          <p:cNvSpPr/>
          <p:nvPr/>
        </p:nvSpPr>
        <p:spPr>
          <a:xfrm>
            <a:off x="99149" y="74252"/>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20">
            <a:extLst>
              <a:ext uri="{FF2B5EF4-FFF2-40B4-BE49-F238E27FC236}">
                <a16:creationId xmlns:a16="http://schemas.microsoft.com/office/drawing/2014/main" id="{D5DFB5B5-FA64-4BEE-B753-0656AB389907}"/>
              </a:ext>
            </a:extLst>
          </p:cNvPr>
          <p:cNvSpPr txBox="1"/>
          <p:nvPr/>
        </p:nvSpPr>
        <p:spPr>
          <a:xfrm>
            <a:off x="99149" y="74252"/>
            <a:ext cx="5597769" cy="369332"/>
          </a:xfrm>
          <a:prstGeom prst="rect">
            <a:avLst/>
          </a:prstGeom>
          <a:noFill/>
        </p:spPr>
        <p:txBody>
          <a:bodyPr wrap="square" rtlCol="0">
            <a:spAutoFit/>
          </a:bodyPr>
          <a:lstStyle/>
          <a:p>
            <a:pPr algn="ctr"/>
            <a:r>
              <a:rPr lang="fr-FR" altLang="ko-KR" b="1" dirty="0">
                <a:solidFill>
                  <a:schemeClr val="bg1"/>
                </a:solidFill>
                <a:cs typeface="Arial" pitchFamily="34" charset="0"/>
              </a:rPr>
              <a:t>Observations</a:t>
            </a:r>
            <a:endParaRPr lang="ko-KR" altLang="en-US" b="1" dirty="0">
              <a:solidFill>
                <a:schemeClr val="bg1"/>
              </a:solidFill>
              <a:cs typeface="Arial" pitchFamily="34" charset="0"/>
            </a:endParaRPr>
          </a:p>
        </p:txBody>
      </p:sp>
      <p:pic>
        <p:nvPicPr>
          <p:cNvPr id="3" name="Image 2"/>
          <p:cNvPicPr>
            <a:picLocks noChangeAspect="1"/>
          </p:cNvPicPr>
          <p:nvPr/>
        </p:nvPicPr>
        <p:blipFill>
          <a:blip r:embed="rId2"/>
          <a:stretch>
            <a:fillRect/>
          </a:stretch>
        </p:blipFill>
        <p:spPr>
          <a:xfrm>
            <a:off x="733425" y="1169825"/>
            <a:ext cx="10725150" cy="1943100"/>
          </a:xfrm>
          <a:prstGeom prst="rect">
            <a:avLst/>
          </a:prstGeom>
        </p:spPr>
      </p:pic>
      <p:sp>
        <p:nvSpPr>
          <p:cNvPr id="7" name="Rectangle 6">
            <a:extLst>
              <a:ext uri="{FF2B5EF4-FFF2-40B4-BE49-F238E27FC236}">
                <a16:creationId xmlns:a16="http://schemas.microsoft.com/office/drawing/2014/main" id="{B04823C5-AAD3-4FB3-A25D-C238181A022C}"/>
              </a:ext>
            </a:extLst>
          </p:cNvPr>
          <p:cNvSpPr/>
          <p:nvPr/>
        </p:nvSpPr>
        <p:spPr>
          <a:xfrm>
            <a:off x="733425" y="3566729"/>
            <a:ext cx="5848545" cy="1369165"/>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dirty="0"/>
              <a:t>{</a:t>
            </a:r>
          </a:p>
          <a:p>
            <a:r>
              <a:rPr lang="fr-FR" dirty="0"/>
              <a:t>    "</a:t>
            </a:r>
            <a:r>
              <a:rPr lang="fr-FR" dirty="0" err="1"/>
              <a:t>phenomenonTime</a:t>
            </a:r>
            <a:r>
              <a:rPr lang="fr-FR" dirty="0"/>
              <a:t>": "2017-02-07T18:02:00.000Z",</a:t>
            </a:r>
          </a:p>
          <a:p>
            <a:r>
              <a:rPr lang="fr-FR" dirty="0"/>
              <a:t>    "</a:t>
            </a:r>
            <a:r>
              <a:rPr lang="fr-FR" dirty="0" err="1"/>
              <a:t>result</a:t>
            </a:r>
            <a:r>
              <a:rPr lang="fr-FR" dirty="0"/>
              <a:t>": 21.6,</a:t>
            </a:r>
          </a:p>
          <a:p>
            <a:r>
              <a:rPr lang="fr-FR" dirty="0"/>
              <a:t>    "</a:t>
            </a:r>
            <a:r>
              <a:rPr lang="fr-FR" dirty="0" err="1"/>
              <a:t>Datastream</a:t>
            </a:r>
            <a:r>
              <a:rPr lang="fr-FR" dirty="0"/>
              <a:t>": { "@iot.id": 2 }</a:t>
            </a:r>
          </a:p>
          <a:p>
            <a:r>
              <a:rPr lang="fr-FR" dirty="0"/>
              <a:t>}</a:t>
            </a:r>
          </a:p>
        </p:txBody>
      </p:sp>
    </p:spTree>
    <p:extLst>
      <p:ext uri="{BB962C8B-B14F-4D97-AF65-F5344CB8AC3E}">
        <p14:creationId xmlns:p14="http://schemas.microsoft.com/office/powerpoint/2010/main" val="392821440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152" y="220514"/>
            <a:ext cx="9318032" cy="6403160"/>
          </a:xfrm>
          <a:prstGeom prst="rect">
            <a:avLst/>
          </a:prstGeom>
        </p:spPr>
      </p:pic>
      <p:sp>
        <p:nvSpPr>
          <p:cNvPr id="7" name="Rectangle: Rounded Corners 19">
            <a:extLst>
              <a:ext uri="{FF2B5EF4-FFF2-40B4-BE49-F238E27FC236}">
                <a16:creationId xmlns:a16="http://schemas.microsoft.com/office/drawing/2014/main" id="{79426DEA-E145-4CB5-A124-03449CFBB3D2}"/>
              </a:ext>
            </a:extLst>
          </p:cNvPr>
          <p:cNvSpPr/>
          <p:nvPr/>
        </p:nvSpPr>
        <p:spPr>
          <a:xfrm>
            <a:off x="5998259" y="80903"/>
            <a:ext cx="5870280" cy="655627"/>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20">
            <a:extLst>
              <a:ext uri="{FF2B5EF4-FFF2-40B4-BE49-F238E27FC236}">
                <a16:creationId xmlns:a16="http://schemas.microsoft.com/office/drawing/2014/main" id="{D5DFB5B5-FA64-4BEE-B753-0656AB389907}"/>
              </a:ext>
            </a:extLst>
          </p:cNvPr>
          <p:cNvSpPr txBox="1"/>
          <p:nvPr/>
        </p:nvSpPr>
        <p:spPr>
          <a:xfrm>
            <a:off x="5784994" y="116328"/>
            <a:ext cx="6083545" cy="584775"/>
          </a:xfrm>
          <a:prstGeom prst="rect">
            <a:avLst/>
          </a:prstGeom>
          <a:noFill/>
        </p:spPr>
        <p:txBody>
          <a:bodyPr wrap="square" rtlCol="0">
            <a:spAutoFit/>
          </a:bodyPr>
          <a:lstStyle/>
          <a:p>
            <a:pPr algn="ctr"/>
            <a:r>
              <a:rPr lang="fr-FR" altLang="ko-KR" sz="3200" b="1" dirty="0">
                <a:solidFill>
                  <a:schemeClr val="bg1"/>
                </a:solidFill>
                <a:cs typeface="Arial" pitchFamily="34" charset="0"/>
              </a:rPr>
              <a:t>Le </a:t>
            </a:r>
            <a:r>
              <a:rPr lang="fr-FR" altLang="ko-KR" sz="3200" b="1" dirty="0" err="1">
                <a:solidFill>
                  <a:schemeClr val="bg1"/>
                </a:solidFill>
                <a:cs typeface="Arial" pitchFamily="34" charset="0"/>
              </a:rPr>
              <a:t>modéle</a:t>
            </a:r>
            <a:r>
              <a:rPr lang="fr-FR" altLang="ko-KR" sz="3200" b="1" dirty="0">
                <a:solidFill>
                  <a:schemeClr val="bg1"/>
                </a:solidFill>
                <a:cs typeface="Arial" pitchFamily="34" charset="0"/>
              </a:rPr>
              <a:t> </a:t>
            </a:r>
            <a:r>
              <a:rPr lang="fr-FR" altLang="ko-KR" sz="3200" b="1" dirty="0" err="1">
                <a:solidFill>
                  <a:schemeClr val="bg1"/>
                </a:solidFill>
                <a:cs typeface="Arial" pitchFamily="34" charset="0"/>
              </a:rPr>
              <a:t>MultiDatastreams</a:t>
            </a:r>
            <a:endParaRPr lang="ko-KR" altLang="en-US" sz="3200" b="1" dirty="0">
              <a:solidFill>
                <a:schemeClr val="bg1"/>
              </a:solidFill>
              <a:cs typeface="Arial" pitchFamily="34" charset="0"/>
            </a:endParaRPr>
          </a:p>
        </p:txBody>
      </p:sp>
    </p:spTree>
    <p:extLst>
      <p:ext uri="{BB962C8B-B14F-4D97-AF65-F5344CB8AC3E}">
        <p14:creationId xmlns:p14="http://schemas.microsoft.com/office/powerpoint/2010/main" val="395744788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04823C5-AAD3-4FB3-A25D-C238181A022C}"/>
              </a:ext>
            </a:extLst>
          </p:cNvPr>
          <p:cNvSpPr/>
          <p:nvPr/>
        </p:nvSpPr>
        <p:spPr>
          <a:xfrm>
            <a:off x="550505" y="443585"/>
            <a:ext cx="9629193" cy="5798596"/>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19">
            <a:extLst>
              <a:ext uri="{FF2B5EF4-FFF2-40B4-BE49-F238E27FC236}">
                <a16:creationId xmlns:a16="http://schemas.microsoft.com/office/drawing/2014/main" id="{79426DEA-E145-4CB5-A124-03449CFBB3D2}"/>
              </a:ext>
            </a:extLst>
          </p:cNvPr>
          <p:cNvSpPr/>
          <p:nvPr/>
        </p:nvSpPr>
        <p:spPr>
          <a:xfrm>
            <a:off x="99149" y="74252"/>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20">
            <a:extLst>
              <a:ext uri="{FF2B5EF4-FFF2-40B4-BE49-F238E27FC236}">
                <a16:creationId xmlns:a16="http://schemas.microsoft.com/office/drawing/2014/main" id="{D5DFB5B5-FA64-4BEE-B753-0656AB389907}"/>
              </a:ext>
            </a:extLst>
          </p:cNvPr>
          <p:cNvSpPr txBox="1"/>
          <p:nvPr/>
        </p:nvSpPr>
        <p:spPr>
          <a:xfrm>
            <a:off x="99149" y="74252"/>
            <a:ext cx="5597769" cy="369332"/>
          </a:xfrm>
          <a:prstGeom prst="rect">
            <a:avLst/>
          </a:prstGeom>
          <a:noFill/>
        </p:spPr>
        <p:txBody>
          <a:bodyPr wrap="square" rtlCol="0">
            <a:spAutoFit/>
          </a:bodyPr>
          <a:lstStyle/>
          <a:p>
            <a:pPr algn="ctr"/>
            <a:r>
              <a:rPr lang="fr-FR" altLang="ko-KR" b="1" dirty="0" err="1">
                <a:solidFill>
                  <a:schemeClr val="bg1"/>
                </a:solidFill>
                <a:cs typeface="Arial" pitchFamily="34" charset="0"/>
              </a:rPr>
              <a:t>MultiDatastream</a:t>
            </a:r>
            <a:endParaRPr lang="ko-KR" altLang="en-US" b="1" dirty="0">
              <a:solidFill>
                <a:schemeClr val="bg1"/>
              </a:solidFill>
              <a:cs typeface="Arial" pitchFamily="34" charset="0"/>
            </a:endParaRPr>
          </a:p>
        </p:txBody>
      </p:sp>
      <p:pic>
        <p:nvPicPr>
          <p:cNvPr id="3" name="Image 2"/>
          <p:cNvPicPr>
            <a:picLocks noChangeAspect="1"/>
          </p:cNvPicPr>
          <p:nvPr/>
        </p:nvPicPr>
        <p:blipFill>
          <a:blip r:embed="rId2"/>
          <a:stretch>
            <a:fillRect/>
          </a:stretch>
        </p:blipFill>
        <p:spPr>
          <a:xfrm>
            <a:off x="1111894" y="812916"/>
            <a:ext cx="8591550" cy="5181600"/>
          </a:xfrm>
          <a:prstGeom prst="rect">
            <a:avLst/>
          </a:prstGeom>
        </p:spPr>
      </p:pic>
    </p:spTree>
    <p:extLst>
      <p:ext uri="{BB962C8B-B14F-4D97-AF65-F5344CB8AC3E}">
        <p14:creationId xmlns:p14="http://schemas.microsoft.com/office/powerpoint/2010/main" val="1534963235"/>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04823C5-AAD3-4FB3-A25D-C238181A022C}"/>
              </a:ext>
            </a:extLst>
          </p:cNvPr>
          <p:cNvSpPr/>
          <p:nvPr/>
        </p:nvSpPr>
        <p:spPr>
          <a:xfrm>
            <a:off x="550505" y="443585"/>
            <a:ext cx="11290042" cy="5565330"/>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19">
            <a:extLst>
              <a:ext uri="{FF2B5EF4-FFF2-40B4-BE49-F238E27FC236}">
                <a16:creationId xmlns:a16="http://schemas.microsoft.com/office/drawing/2014/main" id="{79426DEA-E145-4CB5-A124-03449CFBB3D2}"/>
              </a:ext>
            </a:extLst>
          </p:cNvPr>
          <p:cNvSpPr/>
          <p:nvPr/>
        </p:nvSpPr>
        <p:spPr>
          <a:xfrm>
            <a:off x="99149" y="74252"/>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20">
            <a:extLst>
              <a:ext uri="{FF2B5EF4-FFF2-40B4-BE49-F238E27FC236}">
                <a16:creationId xmlns:a16="http://schemas.microsoft.com/office/drawing/2014/main" id="{D5DFB5B5-FA64-4BEE-B753-0656AB389907}"/>
              </a:ext>
            </a:extLst>
          </p:cNvPr>
          <p:cNvSpPr txBox="1"/>
          <p:nvPr/>
        </p:nvSpPr>
        <p:spPr>
          <a:xfrm>
            <a:off x="99149" y="74252"/>
            <a:ext cx="5597769" cy="369332"/>
          </a:xfrm>
          <a:prstGeom prst="rect">
            <a:avLst/>
          </a:prstGeom>
          <a:noFill/>
        </p:spPr>
        <p:txBody>
          <a:bodyPr wrap="square" rtlCol="0">
            <a:spAutoFit/>
          </a:bodyPr>
          <a:lstStyle/>
          <a:p>
            <a:pPr algn="ctr"/>
            <a:r>
              <a:rPr lang="fr-FR" altLang="ko-KR" b="1" dirty="0">
                <a:solidFill>
                  <a:schemeClr val="bg1"/>
                </a:solidFill>
                <a:cs typeface="Arial" pitchFamily="34" charset="0"/>
              </a:rPr>
              <a:t>Observations pour </a:t>
            </a:r>
            <a:r>
              <a:rPr lang="fr-FR" altLang="ko-KR" b="1" dirty="0" err="1">
                <a:solidFill>
                  <a:schemeClr val="bg1"/>
                </a:solidFill>
                <a:cs typeface="Arial" pitchFamily="34" charset="0"/>
              </a:rPr>
              <a:t>multiDatasream</a:t>
            </a:r>
            <a:endParaRPr lang="ko-KR" altLang="en-US" b="1" dirty="0">
              <a:solidFill>
                <a:schemeClr val="bg1"/>
              </a:solidFill>
              <a:cs typeface="Arial" pitchFamily="34" charset="0"/>
            </a:endParaRPr>
          </a:p>
        </p:txBody>
      </p:sp>
      <p:sp>
        <p:nvSpPr>
          <p:cNvPr id="7" name="Rectangle 6">
            <a:extLst>
              <a:ext uri="{FF2B5EF4-FFF2-40B4-BE49-F238E27FC236}">
                <a16:creationId xmlns:a16="http://schemas.microsoft.com/office/drawing/2014/main" id="{B04823C5-AAD3-4FB3-A25D-C238181A022C}"/>
              </a:ext>
            </a:extLst>
          </p:cNvPr>
          <p:cNvSpPr/>
          <p:nvPr/>
        </p:nvSpPr>
        <p:spPr>
          <a:xfrm>
            <a:off x="1244474" y="991480"/>
            <a:ext cx="5848545" cy="1369165"/>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dirty="0"/>
              <a:t>{</a:t>
            </a:r>
          </a:p>
          <a:p>
            <a:r>
              <a:rPr lang="fr-FR" dirty="0"/>
              <a:t>  "</a:t>
            </a:r>
            <a:r>
              <a:rPr lang="fr-FR" dirty="0" err="1"/>
              <a:t>phenomenonTime</a:t>
            </a:r>
            <a:r>
              <a:rPr lang="fr-FR" dirty="0"/>
              <a:t>": "2017-02-07T18:02:00.000Z",</a:t>
            </a:r>
          </a:p>
          <a:p>
            <a:r>
              <a:rPr lang="fr-FR" dirty="0"/>
              <a:t>  "</a:t>
            </a:r>
            <a:r>
              <a:rPr lang="fr-FR" dirty="0" err="1"/>
              <a:t>result</a:t>
            </a:r>
            <a:r>
              <a:rPr lang="fr-FR" dirty="0"/>
              <a:t>": {</a:t>
            </a:r>
          </a:p>
          <a:p>
            <a:r>
              <a:rPr lang="fr-FR" dirty="0"/>
              <a:t>     "Unit one": 10.1,</a:t>
            </a:r>
          </a:p>
          <a:p>
            <a:r>
              <a:rPr lang="fr-FR" dirty="0"/>
              <a:t>     "Unit </a:t>
            </a:r>
            <a:r>
              <a:rPr lang="fr-FR" dirty="0" err="1"/>
              <a:t>two</a:t>
            </a:r>
            <a:r>
              <a:rPr lang="fr-FR" dirty="0"/>
              <a:t>": 10.2</a:t>
            </a:r>
          </a:p>
          <a:p>
            <a:r>
              <a:rPr lang="fr-FR" dirty="0"/>
              <a:t>   }</a:t>
            </a:r>
          </a:p>
          <a:p>
            <a:r>
              <a:rPr lang="fr-FR" dirty="0"/>
              <a:t>}</a:t>
            </a:r>
          </a:p>
        </p:txBody>
      </p:sp>
      <p:pic>
        <p:nvPicPr>
          <p:cNvPr id="4" name="Image 3"/>
          <p:cNvPicPr>
            <a:picLocks noChangeAspect="1"/>
          </p:cNvPicPr>
          <p:nvPr/>
        </p:nvPicPr>
        <p:blipFill>
          <a:blip r:embed="rId2"/>
          <a:stretch>
            <a:fillRect/>
          </a:stretch>
        </p:blipFill>
        <p:spPr>
          <a:xfrm>
            <a:off x="1244474" y="2992017"/>
            <a:ext cx="10182225" cy="2590800"/>
          </a:xfrm>
          <a:prstGeom prst="rect">
            <a:avLst/>
          </a:prstGeom>
        </p:spPr>
      </p:pic>
    </p:spTree>
    <p:extLst>
      <p:ext uri="{BB962C8B-B14F-4D97-AF65-F5344CB8AC3E}">
        <p14:creationId xmlns:p14="http://schemas.microsoft.com/office/powerpoint/2010/main" val="37754606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bwMode="auto">
          <a:xfrm>
            <a:off x="10068072" y="2996406"/>
            <a:ext cx="1871926" cy="365795"/>
          </a:xfrm>
          <a:prstGeom prst="rect">
            <a:avLst/>
          </a:prstGeom>
          <a:noFill/>
        </p:spPr>
        <p:txBody>
          <a:bodyPr vertOverflow="overflow" horzOverflow="clip" vert="horz" wrap="square" lIns="91440" tIns="45720" rIns="91440" bIns="45720" numCol="1" spcCol="0" rtlCol="0" fromWordArt="0" anchor="t" anchorCtr="0" forceAA="0" compatLnSpc="0">
            <a:spAutoFit/>
          </a:bodyPr>
          <a:lstStyle/>
          <a:p>
            <a:pPr>
              <a:defRPr/>
            </a:pPr>
            <a:endParaRPr/>
          </a:p>
        </p:txBody>
      </p:sp>
      <p:sp>
        <p:nvSpPr>
          <p:cNvPr id="43" name="Заголовок 1"/>
          <p:cNvSpPr txBox="1">
            <a:spLocks/>
          </p:cNvSpPr>
          <p:nvPr/>
        </p:nvSpPr>
        <p:spPr bwMode="auto">
          <a:xfrm>
            <a:off x="609598" y="1617571"/>
            <a:ext cx="10972800" cy="398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SensorThings </a:t>
            </a:r>
            <a:r>
              <a:rPr lang="fr-FR" sz="2800" b="1" dirty="0" err="1"/>
              <a:t>Enhanced</a:t>
            </a:r>
            <a:r>
              <a:rPr lang="fr-FR" sz="2800" b="1" dirty="0"/>
              <a:t> API </a:t>
            </a:r>
            <a:r>
              <a:rPr lang="fr-FR" sz="2800" b="1" dirty="0" err="1"/>
              <a:t>Node</a:t>
            </a:r>
            <a:endParaRPr lang="fr-FR" sz="2800" b="1" dirty="0"/>
          </a:p>
        </p:txBody>
      </p:sp>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1754" y="4484235"/>
            <a:ext cx="635145" cy="635145"/>
          </a:xfrm>
          <a:prstGeom prst="rect">
            <a:avLst/>
          </a:prstGeom>
        </p:spPr>
      </p:pic>
      <p:pic>
        <p:nvPicPr>
          <p:cNvPr id="6" name="Imag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 y="2324873"/>
            <a:ext cx="3112209" cy="1905434"/>
          </a:xfrm>
          <a:prstGeom prst="rect">
            <a:avLst/>
          </a:prstGeom>
        </p:spPr>
      </p:pic>
      <p:pic>
        <p:nvPicPr>
          <p:cNvPr id="9" name="Imag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599" y="4484236"/>
            <a:ext cx="635145" cy="635145"/>
          </a:xfrm>
          <a:prstGeom prst="rect">
            <a:avLst/>
          </a:prstGeom>
        </p:spPr>
      </p:pic>
      <p:pic>
        <p:nvPicPr>
          <p:cNvPr id="30" name="Image 2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2735" y="5627236"/>
            <a:ext cx="2477064" cy="889203"/>
          </a:xfrm>
          <a:prstGeom prst="rect">
            <a:avLst/>
          </a:prstGeom>
        </p:spPr>
      </p:pic>
      <p:pic>
        <p:nvPicPr>
          <p:cNvPr id="31" name="Image 3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598" y="202264"/>
            <a:ext cx="5099219" cy="1614753"/>
          </a:xfrm>
          <a:prstGeom prst="rect">
            <a:avLst/>
          </a:prstGeom>
        </p:spPr>
      </p:pic>
      <p:pic>
        <p:nvPicPr>
          <p:cNvPr id="36" name="Image 3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894488" y="4904893"/>
            <a:ext cx="1045510" cy="1002068"/>
          </a:xfrm>
          <a:prstGeom prst="rect">
            <a:avLst/>
          </a:prstGeom>
        </p:spPr>
      </p:pic>
      <p:sp>
        <p:nvSpPr>
          <p:cNvPr id="10" name="Заголовок 1"/>
          <p:cNvSpPr txBox="1">
            <a:spLocks/>
          </p:cNvSpPr>
          <p:nvPr/>
        </p:nvSpPr>
        <p:spPr bwMode="auto">
          <a:xfrm>
            <a:off x="5859624" y="6117547"/>
            <a:ext cx="7812830" cy="3988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https://github.com/Mario-35/STEAN</a:t>
            </a:r>
          </a:p>
        </p:txBody>
      </p:sp>
      <p:pic>
        <p:nvPicPr>
          <p:cNvPr id="11" name="Image 10"/>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5708817" y="3488815"/>
            <a:ext cx="1482984" cy="1482984"/>
          </a:xfrm>
          <a:prstGeom prst="rect">
            <a:avLst/>
          </a:prstGeom>
        </p:spPr>
      </p:pic>
    </p:spTree>
    <p:extLst>
      <p:ext uri="{BB962C8B-B14F-4D97-AF65-F5344CB8AC3E}">
        <p14:creationId xmlns:p14="http://schemas.microsoft.com/office/powerpoint/2010/main" val="1675456105"/>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152" y="220514"/>
            <a:ext cx="9318032" cy="6403160"/>
          </a:xfrm>
          <a:prstGeom prst="rect">
            <a:avLst/>
          </a:prstGeom>
        </p:spPr>
      </p:pic>
      <p:sp>
        <p:nvSpPr>
          <p:cNvPr id="7" name="Rectangle: Rounded Corners 19">
            <a:extLst>
              <a:ext uri="{FF2B5EF4-FFF2-40B4-BE49-F238E27FC236}">
                <a16:creationId xmlns:a16="http://schemas.microsoft.com/office/drawing/2014/main" id="{79426DEA-E145-4CB5-A124-03449CFBB3D2}"/>
              </a:ext>
            </a:extLst>
          </p:cNvPr>
          <p:cNvSpPr/>
          <p:nvPr/>
        </p:nvSpPr>
        <p:spPr>
          <a:xfrm>
            <a:off x="5998259" y="80903"/>
            <a:ext cx="5870280" cy="655627"/>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20">
            <a:extLst>
              <a:ext uri="{FF2B5EF4-FFF2-40B4-BE49-F238E27FC236}">
                <a16:creationId xmlns:a16="http://schemas.microsoft.com/office/drawing/2014/main" id="{D5DFB5B5-FA64-4BEE-B753-0656AB389907}"/>
              </a:ext>
            </a:extLst>
          </p:cNvPr>
          <p:cNvSpPr txBox="1"/>
          <p:nvPr/>
        </p:nvSpPr>
        <p:spPr>
          <a:xfrm>
            <a:off x="5784994" y="116328"/>
            <a:ext cx="6083545" cy="584775"/>
          </a:xfrm>
          <a:prstGeom prst="rect">
            <a:avLst/>
          </a:prstGeom>
          <a:noFill/>
        </p:spPr>
        <p:txBody>
          <a:bodyPr wrap="square" rtlCol="0">
            <a:spAutoFit/>
          </a:bodyPr>
          <a:lstStyle/>
          <a:p>
            <a:pPr algn="ctr"/>
            <a:r>
              <a:rPr lang="fr-FR" altLang="ko-KR" sz="3200" b="1" dirty="0">
                <a:solidFill>
                  <a:schemeClr val="bg1"/>
                </a:solidFill>
                <a:cs typeface="Arial" pitchFamily="34" charset="0"/>
              </a:rPr>
              <a:t>Le </a:t>
            </a:r>
            <a:r>
              <a:rPr lang="fr-FR" altLang="ko-KR" sz="3200" b="1" dirty="0" err="1">
                <a:solidFill>
                  <a:schemeClr val="bg1"/>
                </a:solidFill>
                <a:cs typeface="Arial" pitchFamily="34" charset="0"/>
              </a:rPr>
              <a:t>modéle</a:t>
            </a:r>
            <a:r>
              <a:rPr lang="fr-FR" altLang="ko-KR" sz="3200" b="1" dirty="0">
                <a:solidFill>
                  <a:schemeClr val="bg1"/>
                </a:solidFill>
                <a:cs typeface="Arial" pitchFamily="34" charset="0"/>
              </a:rPr>
              <a:t> Lora</a:t>
            </a:r>
            <a:endParaRPr lang="ko-KR" altLang="en-US" sz="3200" b="1" dirty="0">
              <a:solidFill>
                <a:schemeClr val="bg1"/>
              </a:solidFill>
              <a:cs typeface="Arial" pitchFamily="34" charset="0"/>
            </a:endParaRPr>
          </a:p>
        </p:txBody>
      </p:sp>
      <p:pic>
        <p:nvPicPr>
          <p:cNvPr id="4" name="Image 3"/>
          <p:cNvPicPr>
            <a:picLocks noChangeAspect="1"/>
          </p:cNvPicPr>
          <p:nvPr/>
        </p:nvPicPr>
        <p:blipFill>
          <a:blip r:embed="rId3"/>
          <a:stretch>
            <a:fillRect/>
          </a:stretch>
        </p:blipFill>
        <p:spPr>
          <a:xfrm>
            <a:off x="5822314" y="3622664"/>
            <a:ext cx="2892475" cy="2844666"/>
          </a:xfrm>
          <a:prstGeom prst="rect">
            <a:avLst/>
          </a:prstGeom>
        </p:spPr>
      </p:pic>
      <p:pic>
        <p:nvPicPr>
          <p:cNvPr id="6" name="Image 5"/>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629549" y="2332587"/>
            <a:ext cx="1439367" cy="1439367"/>
          </a:xfrm>
          <a:prstGeom prst="rect">
            <a:avLst/>
          </a:prstGeom>
        </p:spPr>
      </p:pic>
    </p:spTree>
    <p:extLst>
      <p:ext uri="{BB962C8B-B14F-4D97-AF65-F5344CB8AC3E}">
        <p14:creationId xmlns:p14="http://schemas.microsoft.com/office/powerpoint/2010/main" val="47431762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19">
            <a:extLst>
              <a:ext uri="{FF2B5EF4-FFF2-40B4-BE49-F238E27FC236}">
                <a16:creationId xmlns:a16="http://schemas.microsoft.com/office/drawing/2014/main" id="{79426DEA-E145-4CB5-A124-03449CFBB3D2}"/>
              </a:ext>
            </a:extLst>
          </p:cNvPr>
          <p:cNvSpPr/>
          <p:nvPr/>
        </p:nvSpPr>
        <p:spPr>
          <a:xfrm>
            <a:off x="99149" y="74252"/>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20">
            <a:extLst>
              <a:ext uri="{FF2B5EF4-FFF2-40B4-BE49-F238E27FC236}">
                <a16:creationId xmlns:a16="http://schemas.microsoft.com/office/drawing/2014/main" id="{D5DFB5B5-FA64-4BEE-B753-0656AB389907}"/>
              </a:ext>
            </a:extLst>
          </p:cNvPr>
          <p:cNvSpPr txBox="1"/>
          <p:nvPr/>
        </p:nvSpPr>
        <p:spPr>
          <a:xfrm>
            <a:off x="99149" y="74252"/>
            <a:ext cx="5597769" cy="369332"/>
          </a:xfrm>
          <a:prstGeom prst="rect">
            <a:avLst/>
          </a:prstGeom>
          <a:noFill/>
        </p:spPr>
        <p:txBody>
          <a:bodyPr wrap="square" rtlCol="0">
            <a:spAutoFit/>
          </a:bodyPr>
          <a:lstStyle/>
          <a:p>
            <a:pPr algn="ctr"/>
            <a:r>
              <a:rPr lang="fr-FR" altLang="ko-KR" b="1" dirty="0">
                <a:solidFill>
                  <a:schemeClr val="bg1"/>
                </a:solidFill>
                <a:cs typeface="Arial" pitchFamily="34" charset="0"/>
              </a:rPr>
              <a:t>Lora</a:t>
            </a:r>
            <a:endParaRPr lang="ko-KR" altLang="en-US" b="1" dirty="0">
              <a:solidFill>
                <a:schemeClr val="bg1"/>
              </a:solidFill>
              <a:cs typeface="Arial" pitchFamily="34" charset="0"/>
            </a:endParaRPr>
          </a:p>
        </p:txBody>
      </p:sp>
      <p:pic>
        <p:nvPicPr>
          <p:cNvPr id="2" name="Image 1"/>
          <p:cNvPicPr>
            <a:picLocks noChangeAspect="1"/>
          </p:cNvPicPr>
          <p:nvPr/>
        </p:nvPicPr>
        <p:blipFill>
          <a:blip r:embed="rId2"/>
          <a:stretch>
            <a:fillRect/>
          </a:stretch>
        </p:blipFill>
        <p:spPr>
          <a:xfrm>
            <a:off x="715642" y="698983"/>
            <a:ext cx="8297433" cy="1895740"/>
          </a:xfrm>
          <a:prstGeom prst="rect">
            <a:avLst/>
          </a:prstGeom>
        </p:spPr>
      </p:pic>
      <p:sp>
        <p:nvSpPr>
          <p:cNvPr id="8" name="Rectangle 7">
            <a:extLst>
              <a:ext uri="{FF2B5EF4-FFF2-40B4-BE49-F238E27FC236}">
                <a16:creationId xmlns:a16="http://schemas.microsoft.com/office/drawing/2014/main" id="{B04823C5-AAD3-4FB3-A25D-C238181A022C}"/>
              </a:ext>
            </a:extLst>
          </p:cNvPr>
          <p:cNvSpPr/>
          <p:nvPr/>
        </p:nvSpPr>
        <p:spPr>
          <a:xfrm>
            <a:off x="799617" y="2892490"/>
            <a:ext cx="5848545" cy="3181739"/>
          </a:xfrm>
          <a:prstGeom prst="rect">
            <a:avLst/>
          </a:prstGeom>
          <a:solidFill>
            <a:schemeClr val="tx2">
              <a:lumMod val="50000"/>
              <a:alpha val="7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dirty="0"/>
              <a:t>{ </a:t>
            </a:r>
          </a:p>
          <a:p>
            <a:r>
              <a:rPr lang="fr-FR" dirty="0"/>
              <a:t>                 "</a:t>
            </a:r>
            <a:r>
              <a:rPr lang="fr-FR" dirty="0" err="1"/>
              <a:t>MultiDatastream</a:t>
            </a:r>
            <a:r>
              <a:rPr lang="fr-FR" dirty="0"/>
              <a:t>": {</a:t>
            </a:r>
          </a:p>
          <a:p>
            <a:r>
              <a:rPr lang="fr-FR" dirty="0"/>
              <a:t>                     "@iot.id": 2</a:t>
            </a:r>
          </a:p>
          <a:p>
            <a:r>
              <a:rPr lang="fr-FR" dirty="0"/>
              <a:t>                 },</a:t>
            </a:r>
          </a:p>
          <a:p>
            <a:r>
              <a:rPr lang="fr-FR" dirty="0"/>
              <a:t>                 "</a:t>
            </a:r>
            <a:r>
              <a:rPr lang="fr-FR" dirty="0" err="1"/>
              <a:t>Decoder</a:t>
            </a:r>
            <a:r>
              <a:rPr lang="fr-FR" dirty="0"/>
              <a:t>": {</a:t>
            </a:r>
          </a:p>
          <a:p>
            <a:r>
              <a:rPr lang="fr-FR" dirty="0"/>
              <a:t>                     "@iot.id": 1</a:t>
            </a:r>
          </a:p>
          <a:p>
            <a:r>
              <a:rPr lang="fr-FR" dirty="0"/>
              <a:t>                 },</a:t>
            </a:r>
          </a:p>
          <a:p>
            <a:r>
              <a:rPr lang="fr-FR" dirty="0"/>
              <a:t>                 "</a:t>
            </a:r>
            <a:r>
              <a:rPr lang="fr-FR" dirty="0" err="1"/>
              <a:t>name</a:t>
            </a:r>
            <a:r>
              <a:rPr lang="fr-FR" dirty="0"/>
              <a:t>": "</a:t>
            </a:r>
            <a:r>
              <a:rPr lang="fr-FR" dirty="0" err="1"/>
              <a:t>Another</a:t>
            </a:r>
            <a:r>
              <a:rPr lang="fr-FR" dirty="0"/>
              <a:t> </a:t>
            </a:r>
            <a:r>
              <a:rPr lang="fr-FR" dirty="0" err="1"/>
              <a:t>lora</a:t>
            </a:r>
            <a:r>
              <a:rPr lang="fr-FR" dirty="0"/>
              <a:t> Name",</a:t>
            </a:r>
          </a:p>
          <a:p>
            <a:r>
              <a:rPr lang="fr-FR" dirty="0"/>
              <a:t>                 "description": "</a:t>
            </a:r>
            <a:r>
              <a:rPr lang="fr-FR" dirty="0" err="1"/>
              <a:t>My</a:t>
            </a:r>
            <a:r>
              <a:rPr lang="fr-FR" dirty="0"/>
              <a:t> new Lora Description",</a:t>
            </a:r>
          </a:p>
          <a:p>
            <a:r>
              <a:rPr lang="fr-FR" dirty="0"/>
              <a:t>                 "</a:t>
            </a:r>
            <a:r>
              <a:rPr lang="fr-FR" dirty="0" err="1"/>
              <a:t>deveui</a:t>
            </a:r>
            <a:r>
              <a:rPr lang="fr-FR" dirty="0"/>
              <a:t>": "8cf9574000009L8C"</a:t>
            </a:r>
          </a:p>
          <a:p>
            <a:r>
              <a:rPr lang="fr-FR" dirty="0"/>
              <a:t>}</a:t>
            </a:r>
          </a:p>
        </p:txBody>
      </p:sp>
    </p:spTree>
    <p:extLst>
      <p:ext uri="{BB962C8B-B14F-4D97-AF65-F5344CB8AC3E}">
        <p14:creationId xmlns:p14="http://schemas.microsoft.com/office/powerpoint/2010/main" val="19798444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19">
            <a:extLst>
              <a:ext uri="{FF2B5EF4-FFF2-40B4-BE49-F238E27FC236}">
                <a16:creationId xmlns:a16="http://schemas.microsoft.com/office/drawing/2014/main" id="{79426DEA-E145-4CB5-A124-03449CFBB3D2}"/>
              </a:ext>
            </a:extLst>
          </p:cNvPr>
          <p:cNvSpPr/>
          <p:nvPr/>
        </p:nvSpPr>
        <p:spPr>
          <a:xfrm>
            <a:off x="99149" y="74252"/>
            <a:ext cx="5865987" cy="462563"/>
          </a:xfrm>
          <a:prstGeom prst="roundRect">
            <a:avLst>
              <a:gd name="adj" fmla="val 16667"/>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20">
            <a:extLst>
              <a:ext uri="{FF2B5EF4-FFF2-40B4-BE49-F238E27FC236}">
                <a16:creationId xmlns:a16="http://schemas.microsoft.com/office/drawing/2014/main" id="{D5DFB5B5-FA64-4BEE-B753-0656AB389907}"/>
              </a:ext>
            </a:extLst>
          </p:cNvPr>
          <p:cNvSpPr txBox="1"/>
          <p:nvPr/>
        </p:nvSpPr>
        <p:spPr>
          <a:xfrm>
            <a:off x="99149" y="74252"/>
            <a:ext cx="5597769" cy="369332"/>
          </a:xfrm>
          <a:prstGeom prst="rect">
            <a:avLst/>
          </a:prstGeom>
          <a:noFill/>
        </p:spPr>
        <p:txBody>
          <a:bodyPr wrap="square" rtlCol="0">
            <a:spAutoFit/>
          </a:bodyPr>
          <a:lstStyle/>
          <a:p>
            <a:pPr algn="ctr"/>
            <a:r>
              <a:rPr lang="fr-FR" altLang="ko-KR" b="1" dirty="0" err="1">
                <a:solidFill>
                  <a:schemeClr val="bg1"/>
                </a:solidFill>
                <a:cs typeface="Arial" pitchFamily="34" charset="0"/>
              </a:rPr>
              <a:t>Decoder</a:t>
            </a:r>
            <a:endParaRPr lang="ko-KR" altLang="en-US" b="1" dirty="0">
              <a:solidFill>
                <a:schemeClr val="bg1"/>
              </a:solidFill>
              <a:cs typeface="Arial" pitchFamily="34" charset="0"/>
            </a:endParaRPr>
          </a:p>
        </p:txBody>
      </p:sp>
      <p:pic>
        <p:nvPicPr>
          <p:cNvPr id="3" name="Image 2"/>
          <p:cNvPicPr>
            <a:picLocks noChangeAspect="1"/>
          </p:cNvPicPr>
          <p:nvPr/>
        </p:nvPicPr>
        <p:blipFill>
          <a:blip r:embed="rId2"/>
          <a:stretch>
            <a:fillRect/>
          </a:stretch>
        </p:blipFill>
        <p:spPr>
          <a:xfrm>
            <a:off x="603807" y="1115859"/>
            <a:ext cx="9192908" cy="1733792"/>
          </a:xfrm>
          <a:prstGeom prst="rect">
            <a:avLst/>
          </a:prstGeom>
        </p:spPr>
      </p:pic>
    </p:spTree>
    <p:extLst>
      <p:ext uri="{BB962C8B-B14F-4D97-AF65-F5344CB8AC3E}">
        <p14:creationId xmlns:p14="http://schemas.microsoft.com/office/powerpoint/2010/main" val="1183541501"/>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596" y="1004498"/>
            <a:ext cx="1121325" cy="1121325"/>
          </a:xfrm>
          <a:prstGeom prst="rect">
            <a:avLst/>
          </a:prstGeom>
        </p:spPr>
      </p:pic>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776" y="2337221"/>
            <a:ext cx="2248289" cy="936787"/>
          </a:xfrm>
          <a:prstGeom prst="rect">
            <a:avLst/>
          </a:prstGeom>
        </p:spPr>
      </p:pic>
      <p:pic>
        <p:nvPicPr>
          <p:cNvPr id="5" name="Imag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544" y="3551757"/>
            <a:ext cx="1171090" cy="1171090"/>
          </a:xfrm>
          <a:prstGeom prst="rect">
            <a:avLst/>
          </a:prstGeom>
        </p:spPr>
      </p:pic>
      <p:pic>
        <p:nvPicPr>
          <p:cNvPr id="7" name="Imag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996" y="5140555"/>
            <a:ext cx="1141638" cy="1141638"/>
          </a:xfrm>
          <a:prstGeom prst="rect">
            <a:avLst/>
          </a:prstGeom>
        </p:spPr>
      </p:pic>
      <p:pic>
        <p:nvPicPr>
          <p:cNvPr id="8" name="Image 7"/>
          <p:cNvPicPr>
            <a:picLocks noChangeAspect="1"/>
          </p:cNvPicPr>
          <p:nvPr/>
        </p:nvPicPr>
        <p:blipFill>
          <a:blip r:embed="rId6"/>
          <a:stretch>
            <a:fillRect/>
          </a:stretch>
        </p:blipFill>
        <p:spPr>
          <a:xfrm>
            <a:off x="3116423" y="1004498"/>
            <a:ext cx="8322907" cy="5745697"/>
          </a:xfrm>
          <a:prstGeom prst="rect">
            <a:avLst/>
          </a:prstGeom>
        </p:spPr>
      </p:pic>
      <p:sp>
        <p:nvSpPr>
          <p:cNvPr id="9" name="TextBox 20">
            <a:extLst>
              <a:ext uri="{FF2B5EF4-FFF2-40B4-BE49-F238E27FC236}">
                <a16:creationId xmlns:a16="http://schemas.microsoft.com/office/drawing/2014/main" id="{D5DFB5B5-FA64-4BEE-B753-0656AB389907}"/>
              </a:ext>
            </a:extLst>
          </p:cNvPr>
          <p:cNvSpPr txBox="1"/>
          <p:nvPr/>
        </p:nvSpPr>
        <p:spPr>
          <a:xfrm>
            <a:off x="99149" y="74252"/>
            <a:ext cx="7458647" cy="461665"/>
          </a:xfrm>
          <a:prstGeom prst="rect">
            <a:avLst/>
          </a:prstGeom>
          <a:noFill/>
        </p:spPr>
        <p:txBody>
          <a:bodyPr wrap="square" rtlCol="0">
            <a:spAutoFit/>
          </a:bodyPr>
          <a:lstStyle/>
          <a:p>
            <a:pPr algn="ctr"/>
            <a:r>
              <a:rPr lang="fr-FR" altLang="ko-KR" sz="2400" b="1" dirty="0">
                <a:cs typeface="Arial" pitchFamily="34" charset="0"/>
              </a:rPr>
              <a:t>Diffèrent formats de sortie des données</a:t>
            </a:r>
            <a:endParaRPr lang="ko-KR" altLang="en-US" sz="2400" b="1" dirty="0">
              <a:cs typeface="Arial" pitchFamily="34" charset="0"/>
            </a:endParaRPr>
          </a:p>
        </p:txBody>
      </p:sp>
    </p:spTree>
    <p:extLst>
      <p:ext uri="{BB962C8B-B14F-4D97-AF65-F5344CB8AC3E}">
        <p14:creationId xmlns:p14="http://schemas.microsoft.com/office/powerpoint/2010/main" val="36497303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0">
            <a:extLst>
              <a:ext uri="{FF2B5EF4-FFF2-40B4-BE49-F238E27FC236}">
                <a16:creationId xmlns:a16="http://schemas.microsoft.com/office/drawing/2014/main" id="{D5DFB5B5-FA64-4BEE-B753-0656AB389907}"/>
              </a:ext>
            </a:extLst>
          </p:cNvPr>
          <p:cNvSpPr txBox="1"/>
          <p:nvPr/>
        </p:nvSpPr>
        <p:spPr>
          <a:xfrm>
            <a:off x="99149" y="74252"/>
            <a:ext cx="11844035" cy="4278094"/>
          </a:xfrm>
          <a:prstGeom prst="rect">
            <a:avLst/>
          </a:prstGeom>
          <a:noFill/>
        </p:spPr>
        <p:txBody>
          <a:bodyPr wrap="square" rtlCol="0">
            <a:spAutoFit/>
          </a:bodyPr>
          <a:lstStyle/>
          <a:p>
            <a:pPr algn="ctr"/>
            <a:r>
              <a:rPr lang="fr-FR" altLang="ko-KR" sz="8800" b="1" dirty="0">
                <a:solidFill>
                  <a:schemeClr val="bg1"/>
                </a:solidFill>
                <a:cs typeface="Arial" pitchFamily="34" charset="0"/>
              </a:rPr>
              <a:t>Des mots, </a:t>
            </a:r>
          </a:p>
          <a:p>
            <a:pPr algn="ctr"/>
            <a:r>
              <a:rPr lang="fr-FR" altLang="ko-KR" sz="8800" b="1" dirty="0">
                <a:solidFill>
                  <a:schemeClr val="bg1"/>
                </a:solidFill>
                <a:cs typeface="Arial" pitchFamily="34" charset="0"/>
              </a:rPr>
              <a:t>Des maux</a:t>
            </a:r>
          </a:p>
          <a:p>
            <a:pPr algn="ctr"/>
            <a:r>
              <a:rPr lang="fr-FR" altLang="ko-KR" sz="9600" b="1" dirty="0">
                <a:solidFill>
                  <a:schemeClr val="bg1"/>
                </a:solidFill>
                <a:cs typeface="Arial" pitchFamily="34" charset="0"/>
              </a:rPr>
              <a:t>Démos</a:t>
            </a:r>
            <a:endParaRPr lang="ko-KR" altLang="en-US" sz="9600" b="1" dirty="0">
              <a:solidFill>
                <a:schemeClr val="bg1"/>
              </a:solidFill>
              <a:cs typeface="Arial" pitchFamily="34" charset="0"/>
            </a:endParaRPr>
          </a:p>
        </p:txBody>
      </p:sp>
      <p:sp>
        <p:nvSpPr>
          <p:cNvPr id="7" name="TextBox 20">
            <a:extLst>
              <a:ext uri="{FF2B5EF4-FFF2-40B4-BE49-F238E27FC236}">
                <a16:creationId xmlns:a16="http://schemas.microsoft.com/office/drawing/2014/main" id="{D5DFB5B5-FA64-4BEE-B753-0656AB389907}"/>
              </a:ext>
            </a:extLst>
          </p:cNvPr>
          <p:cNvSpPr txBox="1"/>
          <p:nvPr/>
        </p:nvSpPr>
        <p:spPr>
          <a:xfrm>
            <a:off x="99149" y="6303488"/>
            <a:ext cx="12092851" cy="369332"/>
          </a:xfrm>
          <a:prstGeom prst="rect">
            <a:avLst/>
          </a:prstGeom>
          <a:noFill/>
        </p:spPr>
        <p:txBody>
          <a:bodyPr wrap="square" rtlCol="0">
            <a:spAutoFit/>
          </a:bodyPr>
          <a:lstStyle/>
          <a:p>
            <a:pPr algn="ctr"/>
            <a:r>
              <a:rPr lang="fr-FR" altLang="ko-KR" b="1" dirty="0">
                <a:solidFill>
                  <a:schemeClr val="bg1"/>
                </a:solidFill>
                <a:cs typeface="Arial" pitchFamily="34" charset="0"/>
              </a:rPr>
              <a:t>https://sensorthings.geosas.fr/rennesmetro/v1.1/Query</a:t>
            </a:r>
            <a:endParaRPr lang="ko-KR" altLang="en-US" b="1" dirty="0">
              <a:solidFill>
                <a:schemeClr val="bg1"/>
              </a:solidFill>
              <a:cs typeface="Arial" pitchFamily="34" charset="0"/>
            </a:endParaRPr>
          </a:p>
        </p:txBody>
      </p:sp>
    </p:spTree>
    <p:extLst>
      <p:ext uri="{BB962C8B-B14F-4D97-AF65-F5344CB8AC3E}">
        <p14:creationId xmlns:p14="http://schemas.microsoft.com/office/powerpoint/2010/main" val="1516810534"/>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5596B00-0CE2-44C6-9AC5-0B5BC6F6C4D9}"/>
              </a:ext>
            </a:extLst>
          </p:cNvPr>
          <p:cNvGrpSpPr/>
          <p:nvPr/>
        </p:nvGrpSpPr>
        <p:grpSpPr>
          <a:xfrm>
            <a:off x="3468549" y="2276475"/>
            <a:ext cx="5269188" cy="3419474"/>
            <a:chOff x="4655870" y="2637505"/>
            <a:chExt cx="2716484" cy="1217603"/>
          </a:xfrm>
          <a:effectLst>
            <a:outerShdw blurRad="50800" dist="38100" dir="5400000" algn="t" rotWithShape="0">
              <a:prstClr val="black">
                <a:alpha val="40000"/>
              </a:prstClr>
            </a:outerShdw>
          </a:effectLst>
        </p:grpSpPr>
        <p:grpSp>
          <p:nvGrpSpPr>
            <p:cNvPr id="6" name="Group 5">
              <a:extLst>
                <a:ext uri="{FF2B5EF4-FFF2-40B4-BE49-F238E27FC236}">
                  <a16:creationId xmlns:a16="http://schemas.microsoft.com/office/drawing/2014/main" id="{5DF549E6-5337-42BD-9C5E-4FF911D21EC1}"/>
                </a:ext>
              </a:extLst>
            </p:cNvPr>
            <p:cNvGrpSpPr/>
            <p:nvPr/>
          </p:nvGrpSpPr>
          <p:grpSpPr>
            <a:xfrm>
              <a:off x="6233054" y="2743150"/>
              <a:ext cx="1139300" cy="952543"/>
              <a:chOff x="5133714" y="3583707"/>
              <a:chExt cx="474339" cy="396585"/>
            </a:xfrm>
          </p:grpSpPr>
          <p:cxnSp>
            <p:nvCxnSpPr>
              <p:cNvPr id="12" name="Connector: Elbow 11">
                <a:extLst>
                  <a:ext uri="{FF2B5EF4-FFF2-40B4-BE49-F238E27FC236}">
                    <a16:creationId xmlns:a16="http://schemas.microsoft.com/office/drawing/2014/main" id="{99FF6450-5DCF-4EA4-9ECD-5DECDA3BADBD}"/>
                  </a:ext>
                </a:extLst>
              </p:cNvPr>
              <p:cNvCxnSpPr>
                <a:cxnSpLocks/>
              </p:cNvCxnSpPr>
              <p:nvPr/>
            </p:nvCxnSpPr>
            <p:spPr>
              <a:xfrm rot="16200000" flipH="1">
                <a:off x="5223467" y="3590067"/>
                <a:ext cx="291134" cy="278415"/>
              </a:xfrm>
              <a:prstGeom prst="bentConnector3">
                <a:avLst>
                  <a:gd name="adj1" fmla="val 98706"/>
                </a:avLst>
              </a:prstGeom>
              <a:ln w="3810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637BD6F9-CEA8-471A-B6D6-3D7D3748ACC4}"/>
                  </a:ext>
                </a:extLst>
              </p:cNvPr>
              <p:cNvCxnSpPr>
                <a:cxnSpLocks/>
              </p:cNvCxnSpPr>
              <p:nvPr/>
            </p:nvCxnSpPr>
            <p:spPr>
              <a:xfrm rot="16200000" flipH="1">
                <a:off x="5172591" y="3544830"/>
                <a:ext cx="396585" cy="474339"/>
              </a:xfrm>
              <a:prstGeom prst="bentConnector3">
                <a:avLst>
                  <a:gd name="adj1" fmla="val 101319"/>
                </a:avLst>
              </a:prstGeom>
              <a:ln w="3810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grpSp>
        <p:cxnSp>
          <p:nvCxnSpPr>
            <p:cNvPr id="7" name="Straight Connector 6">
              <a:extLst>
                <a:ext uri="{FF2B5EF4-FFF2-40B4-BE49-F238E27FC236}">
                  <a16:creationId xmlns:a16="http://schemas.microsoft.com/office/drawing/2014/main" id="{3DC2EA36-2D13-4B3D-BFC3-A102F4DEB439}"/>
                </a:ext>
              </a:extLst>
            </p:cNvPr>
            <p:cNvCxnSpPr>
              <a:cxnSpLocks/>
            </p:cNvCxnSpPr>
            <p:nvPr/>
          </p:nvCxnSpPr>
          <p:spPr>
            <a:xfrm>
              <a:off x="6001025" y="2637505"/>
              <a:ext cx="13087" cy="1217603"/>
            </a:xfrm>
            <a:prstGeom prst="line">
              <a:avLst/>
            </a:prstGeom>
            <a:ln w="3810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1C99EAA-C1C3-4CCA-BEBA-AC2A865E88E4}"/>
                </a:ext>
              </a:extLst>
            </p:cNvPr>
            <p:cNvGrpSpPr/>
            <p:nvPr/>
          </p:nvGrpSpPr>
          <p:grpSpPr>
            <a:xfrm flipH="1">
              <a:off x="4655870" y="2743153"/>
              <a:ext cx="1159245" cy="952554"/>
              <a:chOff x="5125409" y="3583703"/>
              <a:chExt cx="482643" cy="396589"/>
            </a:xfrm>
          </p:grpSpPr>
          <p:cxnSp>
            <p:nvCxnSpPr>
              <p:cNvPr id="10" name="Connector: Elbow 9">
                <a:extLst>
                  <a:ext uri="{FF2B5EF4-FFF2-40B4-BE49-F238E27FC236}">
                    <a16:creationId xmlns:a16="http://schemas.microsoft.com/office/drawing/2014/main" id="{3275D676-AD17-49C5-9DEA-18E954D494CE}"/>
                  </a:ext>
                </a:extLst>
              </p:cNvPr>
              <p:cNvCxnSpPr>
                <a:cxnSpLocks/>
              </p:cNvCxnSpPr>
              <p:nvPr/>
            </p:nvCxnSpPr>
            <p:spPr>
              <a:xfrm rot="16200000" flipH="1">
                <a:off x="5217648" y="3581177"/>
                <a:ext cx="291129" cy="296190"/>
              </a:xfrm>
              <a:prstGeom prst="bentConnector3">
                <a:avLst>
                  <a:gd name="adj1" fmla="val 100929"/>
                </a:avLst>
              </a:prstGeom>
              <a:ln w="3810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7437482D-2332-417F-9573-94FD96A7798B}"/>
                  </a:ext>
                </a:extLst>
              </p:cNvPr>
              <p:cNvCxnSpPr>
                <a:cxnSpLocks/>
              </p:cNvCxnSpPr>
              <p:nvPr/>
            </p:nvCxnSpPr>
            <p:spPr>
              <a:xfrm rot="16200000" flipH="1">
                <a:off x="5168436" y="3540676"/>
                <a:ext cx="396589" cy="482643"/>
              </a:xfrm>
              <a:prstGeom prst="bentConnector3">
                <a:avLst>
                  <a:gd name="adj1" fmla="val 99215"/>
                </a:avLst>
              </a:prstGeom>
              <a:ln w="3810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grpSp>
      </p:grpSp>
      <p:sp>
        <p:nvSpPr>
          <p:cNvPr id="26" name="Rectangle 25">
            <a:extLst>
              <a:ext uri="{FF2B5EF4-FFF2-40B4-BE49-F238E27FC236}">
                <a16:creationId xmlns:a16="http://schemas.microsoft.com/office/drawing/2014/main" id="{F080A5CE-2A27-4A71-B160-441332CC772B}"/>
              </a:ext>
            </a:extLst>
          </p:cNvPr>
          <p:cNvSpPr/>
          <p:nvPr/>
        </p:nvSpPr>
        <p:spPr>
          <a:xfrm>
            <a:off x="-9524" y="2836196"/>
            <a:ext cx="12196762" cy="1360392"/>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B2FBFAD-318C-47E8-A82D-2EDEDE3F63EE}"/>
              </a:ext>
            </a:extLst>
          </p:cNvPr>
          <p:cNvSpPr/>
          <p:nvPr/>
        </p:nvSpPr>
        <p:spPr>
          <a:xfrm>
            <a:off x="-4762" y="2938634"/>
            <a:ext cx="12196762" cy="1155517"/>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20C8F30-9C91-4D39-A29C-BCE4134E41E9}"/>
              </a:ext>
            </a:extLst>
          </p:cNvPr>
          <p:cNvSpPr txBox="1"/>
          <p:nvPr/>
        </p:nvSpPr>
        <p:spPr>
          <a:xfrm>
            <a:off x="-4762" y="2888660"/>
            <a:ext cx="12192000" cy="1015663"/>
          </a:xfrm>
          <a:prstGeom prst="rect">
            <a:avLst/>
          </a:prstGeom>
          <a:noFill/>
        </p:spPr>
        <p:txBody>
          <a:bodyPr wrap="square" rtlCol="0" anchor="ctr">
            <a:spAutoFit/>
          </a:bodyPr>
          <a:lstStyle/>
          <a:p>
            <a:pPr algn="ctr"/>
            <a:r>
              <a:rPr lang="en-US" altLang="ko-KR" sz="6000" dirty="0">
                <a:solidFill>
                  <a:schemeClr val="bg1"/>
                </a:solidFill>
                <a:cs typeface="Arial" pitchFamily="34" charset="0"/>
              </a:rPr>
              <a:t>Merci</a:t>
            </a:r>
            <a:endParaRPr lang="ko-KR" altLang="en-US" sz="6000" dirty="0">
              <a:solidFill>
                <a:schemeClr val="bg1"/>
              </a:solidFill>
              <a:cs typeface="Arial" pitchFamily="34" charset="0"/>
            </a:endParaRPr>
          </a:p>
        </p:txBody>
      </p:sp>
      <p:sp>
        <p:nvSpPr>
          <p:cNvPr id="4" name="TextBox 3">
            <a:extLst>
              <a:ext uri="{FF2B5EF4-FFF2-40B4-BE49-F238E27FC236}">
                <a16:creationId xmlns:a16="http://schemas.microsoft.com/office/drawing/2014/main" id="{298CF959-4651-4C64-A08C-8F2BDE46A824}"/>
              </a:ext>
            </a:extLst>
          </p:cNvPr>
          <p:cNvSpPr txBox="1"/>
          <p:nvPr/>
        </p:nvSpPr>
        <p:spPr>
          <a:xfrm>
            <a:off x="4762" y="3714495"/>
            <a:ext cx="12191852" cy="379656"/>
          </a:xfrm>
          <a:prstGeom prst="rect">
            <a:avLst/>
          </a:prstGeom>
          <a:noFill/>
        </p:spPr>
        <p:txBody>
          <a:bodyPr wrap="square" rtlCol="0" anchor="ctr">
            <a:spAutoFit/>
          </a:bodyPr>
          <a:lstStyle/>
          <a:p>
            <a:pPr algn="ctr"/>
            <a:r>
              <a:rPr lang="en-US" altLang="ko-KR" sz="1867" dirty="0">
                <a:solidFill>
                  <a:schemeClr val="bg1"/>
                </a:solidFill>
                <a:cs typeface="Arial" pitchFamily="34" charset="0"/>
              </a:rPr>
              <a:t>Adam Mario INRAE 2026</a:t>
            </a:r>
            <a:endParaRPr lang="ko-KR" altLang="en-US" sz="1867" dirty="0">
              <a:solidFill>
                <a:schemeClr val="bg1"/>
              </a:solidFill>
              <a:cs typeface="Arial" pitchFamily="34" charset="0"/>
            </a:endParaRPr>
          </a:p>
        </p:txBody>
      </p:sp>
      <p:sp>
        <p:nvSpPr>
          <p:cNvPr id="9" name="Freeform 13">
            <a:extLst>
              <a:ext uri="{FF2B5EF4-FFF2-40B4-BE49-F238E27FC236}">
                <a16:creationId xmlns:a16="http://schemas.microsoft.com/office/drawing/2014/main" id="{8237F776-235B-43B7-A208-7106E24CBAFE}"/>
              </a:ext>
            </a:extLst>
          </p:cNvPr>
          <p:cNvSpPr>
            <a:spLocks noChangeAspect="1"/>
          </p:cNvSpPr>
          <p:nvPr/>
        </p:nvSpPr>
        <p:spPr>
          <a:xfrm flipH="1">
            <a:off x="4878758" y="1367871"/>
            <a:ext cx="2434484" cy="1311656"/>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tx1"/>
              </a:solidFill>
            </a:endParaRPr>
          </a:p>
        </p:txBody>
      </p:sp>
      <p:sp>
        <p:nvSpPr>
          <p:cNvPr id="16" name="TextBox 3">
            <a:extLst>
              <a:ext uri="{FF2B5EF4-FFF2-40B4-BE49-F238E27FC236}">
                <a16:creationId xmlns:a16="http://schemas.microsoft.com/office/drawing/2014/main" id="{298CF959-4651-4C64-A08C-8F2BDE46A824}"/>
              </a:ext>
            </a:extLst>
          </p:cNvPr>
          <p:cNvSpPr txBox="1"/>
          <p:nvPr/>
        </p:nvSpPr>
        <p:spPr>
          <a:xfrm>
            <a:off x="107286" y="5852618"/>
            <a:ext cx="12191852" cy="379656"/>
          </a:xfrm>
          <a:prstGeom prst="rect">
            <a:avLst/>
          </a:prstGeom>
          <a:noFill/>
        </p:spPr>
        <p:txBody>
          <a:bodyPr wrap="square" rtlCol="0" anchor="ctr">
            <a:spAutoFit/>
          </a:bodyPr>
          <a:lstStyle/>
          <a:p>
            <a:pPr algn="ctr"/>
            <a:r>
              <a:rPr lang="en-US" altLang="ko-KR" sz="1867" dirty="0">
                <a:solidFill>
                  <a:schemeClr val="bg1"/>
                </a:solidFill>
                <a:cs typeface="Arial" pitchFamily="34" charset="0"/>
              </a:rPr>
              <a:t>https://github.com/Mario-35/api-sensorthing</a:t>
            </a:r>
            <a:endParaRPr lang="ko-KR" altLang="en-US" sz="1867" dirty="0">
              <a:solidFill>
                <a:schemeClr val="bg1"/>
              </a:solidFill>
              <a:cs typeface="Arial" pitchFamily="34" charset="0"/>
            </a:endParaRPr>
          </a:p>
        </p:txBody>
      </p:sp>
      <p:sp>
        <p:nvSpPr>
          <p:cNvPr id="17" name="TextBox 3">
            <a:extLst>
              <a:ext uri="{FF2B5EF4-FFF2-40B4-BE49-F238E27FC236}">
                <a16:creationId xmlns:a16="http://schemas.microsoft.com/office/drawing/2014/main" id="{298CF959-4651-4C64-A08C-8F2BDE46A824}"/>
              </a:ext>
            </a:extLst>
          </p:cNvPr>
          <p:cNvSpPr txBox="1"/>
          <p:nvPr/>
        </p:nvSpPr>
        <p:spPr>
          <a:xfrm>
            <a:off x="107286" y="6208109"/>
            <a:ext cx="12191852" cy="379656"/>
          </a:xfrm>
          <a:prstGeom prst="rect">
            <a:avLst/>
          </a:prstGeom>
          <a:noFill/>
        </p:spPr>
        <p:txBody>
          <a:bodyPr wrap="square" rtlCol="0" anchor="ctr">
            <a:spAutoFit/>
          </a:bodyPr>
          <a:lstStyle/>
          <a:p>
            <a:pPr algn="ctr"/>
            <a:r>
              <a:rPr lang="en-US" altLang="ko-KR" sz="1867" dirty="0">
                <a:solidFill>
                  <a:schemeClr val="bg1"/>
                </a:solidFill>
                <a:cs typeface="Arial" pitchFamily="34" charset="0"/>
              </a:rPr>
              <a:t>http://sensorthings.geosas.fr/apidoc/</a:t>
            </a:r>
            <a:endParaRPr lang="ko-KR" altLang="en-US" sz="1867" dirty="0">
              <a:solidFill>
                <a:schemeClr val="bg1"/>
              </a:solidFill>
              <a:cs typeface="Arial" pitchFamily="34" charset="0"/>
            </a:endParaRPr>
          </a:p>
        </p:txBody>
      </p:sp>
    </p:spTree>
    <p:extLst>
      <p:ext uri="{BB962C8B-B14F-4D97-AF65-F5344CB8AC3E}">
        <p14:creationId xmlns:p14="http://schemas.microsoft.com/office/powerpoint/2010/main" val="1832103495"/>
      </p:ext>
    </p:extLst>
  </p:cSld>
  <p:clrMapOvr>
    <a:masterClrMapping/>
  </p:clrMapOvr>
</p:sld>
</file>

<file path=ppt/theme/theme1.xml><?xml version="1.0" encoding="utf-8"?>
<a:theme xmlns:a="http://schemas.openxmlformats.org/drawingml/2006/main" name="Cover and End Slide Master">
  <a:themeElements>
    <a:clrScheme name="ALLPPT COLOR - 104">
      <a:dk1>
        <a:sysClr val="windowText" lastClr="000000"/>
      </a:dk1>
      <a:lt1>
        <a:sysClr val="window" lastClr="FFFFFF"/>
      </a:lt1>
      <a:dk2>
        <a:srgbClr val="1F497D"/>
      </a:dk2>
      <a:lt2>
        <a:srgbClr val="EEECE1"/>
      </a:lt2>
      <a:accent1>
        <a:srgbClr val="196491"/>
      </a:accent1>
      <a:accent2>
        <a:srgbClr val="0587AF"/>
      </a:accent2>
      <a:accent3>
        <a:srgbClr val="19A5BE"/>
      </a:accent3>
      <a:accent4>
        <a:srgbClr val="53C3CD"/>
      </a:accent4>
      <a:accent5>
        <a:srgbClr val="5AB4C1"/>
      </a:accent5>
      <a:accent6>
        <a:srgbClr val="1A8EA9"/>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 COLOR - 104">
      <a:dk1>
        <a:sysClr val="windowText" lastClr="000000"/>
      </a:dk1>
      <a:lt1>
        <a:sysClr val="window" lastClr="FFFFFF"/>
      </a:lt1>
      <a:dk2>
        <a:srgbClr val="1F497D"/>
      </a:dk2>
      <a:lt2>
        <a:srgbClr val="EEECE1"/>
      </a:lt2>
      <a:accent1>
        <a:srgbClr val="196491"/>
      </a:accent1>
      <a:accent2>
        <a:srgbClr val="0587AF"/>
      </a:accent2>
      <a:accent3>
        <a:srgbClr val="19A5BE"/>
      </a:accent3>
      <a:accent4>
        <a:srgbClr val="53C3CD"/>
      </a:accent4>
      <a:accent5>
        <a:srgbClr val="5AB4C1"/>
      </a:accent5>
      <a:accent6>
        <a:srgbClr val="1A8EA9"/>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9446</TotalTime>
  <Words>796</Words>
  <Application>Microsoft Office PowerPoint</Application>
  <PresentationFormat>Grand écran</PresentationFormat>
  <Paragraphs>106</Paragraphs>
  <Slides>25</Slides>
  <Notes>1</Notes>
  <HiddenSlides>0</HiddenSlides>
  <MMClips>0</MMClips>
  <ScaleCrop>false</ScaleCrop>
  <HeadingPairs>
    <vt:vector size="6" baseType="variant">
      <vt:variant>
        <vt:lpstr>Polices utilisées</vt:lpstr>
      </vt:variant>
      <vt:variant>
        <vt:i4>3</vt:i4>
      </vt:variant>
      <vt:variant>
        <vt:lpstr>Thème</vt:lpstr>
      </vt:variant>
      <vt:variant>
        <vt:i4>2</vt:i4>
      </vt:variant>
      <vt:variant>
        <vt:lpstr>Titres des diapositives</vt:lpstr>
      </vt:variant>
      <vt:variant>
        <vt:i4>25</vt:i4>
      </vt:variant>
    </vt:vector>
  </HeadingPairs>
  <TitlesOfParts>
    <vt:vector size="30" baseType="lpstr">
      <vt:lpstr>Arial</vt:lpstr>
      <vt:lpstr>Calibri</vt:lpstr>
      <vt:lpstr>Times New Roman</vt:lpstr>
      <vt:lpstr>Cover and End Slide Master</vt:lpstr>
      <vt:lpstr>Contents Slide Master</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Mario.Adam@inrae.fr</dc:creator>
  <cp:lastModifiedBy>Mario Adam</cp:lastModifiedBy>
  <cp:revision>342</cp:revision>
  <dcterms:created xsi:type="dcterms:W3CDTF">2019-01-14T06:35:35Z</dcterms:created>
  <dcterms:modified xsi:type="dcterms:W3CDTF">2026-09-14T12:05:28Z</dcterms:modified>
</cp:coreProperties>
</file>